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9144000"/>
  <p:notesSz cx="6858000" cy="9144000"/>
  <p:embeddedFontLst>
    <p:embeddedFont>
      <p:font typeface="Syncopate"/>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2B2E3431-E231-43FA-9854-3CED197F6A5F}">
  <a:tblStyle styleId="{2B2E3431-E231-43FA-9854-3CED197F6A5F}" styleName="Table_0">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E99B346-5764-4B13-A2DA-71392540EDAC}"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Syncopate-regular.fnt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Syncopate-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[Presenter: </a:t>
            </a:r>
            <a:r>
              <a:rPr b="1" i="1" lang="en-GB"/>
              <a:t>Vadim</a:t>
            </a:r>
            <a:r>
              <a:rPr i="1" lang="en-GB"/>
              <a:t> ; 30 sec max]</a:t>
            </a:r>
            <a:endParaRPr i="1"/>
          </a:p>
          <a:p>
            <a:pPr indent="0" lvl="0" marL="0" rtl="0" algn="l">
              <a:spcBef>
                <a:spcPts val="0"/>
              </a:spcBef>
              <a:spcAft>
                <a:spcPts val="0"/>
              </a:spcAft>
              <a:buNone/>
            </a:pPr>
            <a:r>
              <a:t/>
            </a:r>
            <a:endParaRPr i="1"/>
          </a:p>
          <a:p>
            <a:pPr indent="0" lvl="0" marL="0" rtl="0" algn="l">
              <a:spcBef>
                <a:spcPts val="0"/>
              </a:spcBef>
              <a:spcAft>
                <a:spcPts val="0"/>
              </a:spcAft>
              <a:buNone/>
            </a:pPr>
            <a:r>
              <a:rPr lang="en-GB"/>
              <a:t>Quick introduction of the project title, of all partners, and of all </a:t>
            </a:r>
            <a:r>
              <a:rPr lang="en-GB">
                <a:solidFill>
                  <a:schemeClr val="dk1"/>
                </a:solidFill>
              </a:rPr>
              <a:t>people present: </a:t>
            </a:r>
            <a:endParaRPr>
              <a:solidFill>
                <a:schemeClr val="dk1"/>
              </a:solidFill>
            </a:endParaRPr>
          </a:p>
          <a:p>
            <a:pPr indent="0" lvl="0" marL="0" rtl="0" algn="l">
              <a:spcBef>
                <a:spcPts val="0"/>
              </a:spcBef>
              <a:spcAft>
                <a:spcPts val="0"/>
              </a:spcAft>
              <a:buNone/>
            </a:pPr>
            <a:r>
              <a:rPr b="1" lang="en-GB">
                <a:solidFill>
                  <a:schemeClr val="dk1"/>
                </a:solidFill>
              </a:rPr>
              <a:t>UCL</a:t>
            </a:r>
            <a:r>
              <a:rPr lang="en-GB">
                <a:solidFill>
                  <a:schemeClr val="dk1"/>
                </a:solidFill>
              </a:rPr>
              <a:t>	</a:t>
            </a:r>
            <a:r>
              <a:rPr b="1" lang="en-GB">
                <a:solidFill>
                  <a:schemeClr val="dk1"/>
                </a:solidFill>
              </a:rPr>
              <a:t>Kim Mens</a:t>
            </a:r>
            <a:r>
              <a:rPr lang="en-GB">
                <a:solidFill>
                  <a:schemeClr val="dk1"/>
                </a:solidFill>
              </a:rPr>
              <a:t> &amp; </a:t>
            </a:r>
            <a:r>
              <a:rPr b="1" lang="en-GB">
                <a:solidFill>
                  <a:schemeClr val="dk1"/>
                </a:solidFill>
              </a:rPr>
              <a:t>Siegfried Nijssen</a:t>
            </a:r>
            <a:r>
              <a:rPr lang="en-GB">
                <a:solidFill>
                  <a:schemeClr val="dk1"/>
                </a:solidFill>
              </a:rPr>
              <a:t>	accompanied by 	Xavier Lampe</a:t>
            </a:r>
            <a:endParaRPr>
              <a:solidFill>
                <a:schemeClr val="dk1"/>
              </a:solidFill>
            </a:endParaRPr>
          </a:p>
          <a:p>
            <a:pPr indent="0" lvl="0" marL="0" rtl="0" algn="l">
              <a:spcBef>
                <a:spcPts val="0"/>
              </a:spcBef>
              <a:spcAft>
                <a:spcPts val="0"/>
              </a:spcAft>
              <a:buNone/>
            </a:pPr>
            <a:r>
              <a:rPr b="1" lang="en-GB">
                <a:solidFill>
                  <a:schemeClr val="dk1"/>
                </a:solidFill>
              </a:rPr>
              <a:t>RL</a:t>
            </a:r>
            <a:r>
              <a:rPr lang="en-GB">
                <a:solidFill>
                  <a:schemeClr val="dk1"/>
                </a:solidFill>
              </a:rPr>
              <a:t>	</a:t>
            </a:r>
            <a:r>
              <a:rPr b="1" lang="en-GB">
                <a:solidFill>
                  <a:schemeClr val="dk1"/>
                </a:solidFill>
              </a:rPr>
              <a:t>Vadim Zaytsev</a:t>
            </a:r>
            <a:r>
              <a:rPr lang="en-GB">
                <a:solidFill>
                  <a:schemeClr val="dk1"/>
                </a:solidFill>
              </a:rPr>
              <a:t>			accompanied by	Alex Huart</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VUB</a:t>
            </a:r>
            <a:r>
              <a:rPr lang="en-GB">
                <a:solidFill>
                  <a:schemeClr val="dk1"/>
                </a:solidFill>
              </a:rPr>
              <a:t>	</a:t>
            </a:r>
            <a:r>
              <a:rPr b="1" lang="en-GB">
                <a:solidFill>
                  <a:schemeClr val="dk1"/>
                </a:solidFill>
              </a:rPr>
              <a:t>Coen De Roover</a:t>
            </a:r>
            <a:r>
              <a:rPr lang="en-GB">
                <a:solidFill>
                  <a:schemeClr val="dk1"/>
                </a:solidFill>
              </a:rPr>
              <a:t>			accompanied by	Philippe Westbroek</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 name="Shape 62"/>
        <p:cNvGrpSpPr/>
        <p:nvPr/>
      </p:nvGrpSpPr>
      <p:grpSpPr>
        <a:xfrm>
          <a:off x="0" y="0"/>
          <a:ext cx="0" cy="0"/>
          <a:chOff x="0" y="0"/>
          <a:chExt cx="0" cy="0"/>
        </a:xfrm>
      </p:grpSpPr>
      <p:sp>
        <p:nvSpPr>
          <p:cNvPr id="63" name="Google Shape;63;g2545c10946_3_13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545c10946_3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GB">
                <a:solidFill>
                  <a:schemeClr val="dk1"/>
                </a:solidFill>
              </a:rPr>
              <a:t>[Presenter: </a:t>
            </a:r>
            <a:r>
              <a:rPr b="1" i="1" lang="en-GB">
                <a:solidFill>
                  <a:schemeClr val="dk1"/>
                </a:solidFill>
              </a:rPr>
              <a:t>Kim</a:t>
            </a:r>
            <a:r>
              <a:rPr i="1" lang="en-GB">
                <a:solidFill>
                  <a:schemeClr val="dk1"/>
                </a:solidFill>
              </a:rPr>
              <a:t> ; 30 sec]</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Since pattern mining is a vast area, we limit the scope of our study to</a:t>
            </a:r>
            <a:endParaRPr>
              <a:solidFill>
                <a:schemeClr val="dk1"/>
              </a:solidFill>
            </a:endParaRPr>
          </a:p>
          <a:p>
            <a:pPr indent="0" lvl="0" marL="0" rtl="0" algn="l">
              <a:spcBef>
                <a:spcPts val="0"/>
              </a:spcBef>
              <a:spcAft>
                <a:spcPts val="0"/>
              </a:spcAft>
              <a:buNone/>
            </a:pPr>
            <a:r>
              <a:rPr b="1" lang="en-GB">
                <a:solidFill>
                  <a:schemeClr val="dk1"/>
                </a:solidFill>
              </a:rPr>
              <a:t>three use cases</a:t>
            </a:r>
            <a:r>
              <a:rPr lang="en-GB">
                <a:solidFill>
                  <a:schemeClr val="dk1"/>
                </a:solidFill>
              </a:rPr>
              <a:t> corresponding to the kinds of information we are looking for in legacy code</a:t>
            </a:r>
            <a:endParaRPr>
              <a:solidFill>
                <a:schemeClr val="dk1"/>
              </a:solidFill>
            </a:endParaRPr>
          </a:p>
          <a:p>
            <a:pPr indent="0" lvl="0" marL="0" rtl="0" algn="l">
              <a:spcBef>
                <a:spcPts val="0"/>
              </a:spcBef>
              <a:spcAft>
                <a:spcPts val="0"/>
              </a:spcAft>
              <a:buNone/>
            </a:pPr>
            <a:r>
              <a:rPr lang="en-GB">
                <a:solidFill>
                  <a:schemeClr val="dk1"/>
                </a:solidFill>
              </a:rPr>
              <a:t>and </a:t>
            </a:r>
            <a:r>
              <a:rPr b="1" lang="en-GB">
                <a:solidFill>
                  <a:schemeClr val="dk1"/>
                </a:solidFill>
              </a:rPr>
              <a:t>three objectives</a:t>
            </a:r>
            <a:r>
              <a:rPr lang="en-GB">
                <a:solidFill>
                  <a:schemeClr val="dk1"/>
                </a:solidFill>
              </a:rPr>
              <a:t> corresponding to what we want to achieve with the discovered information.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g253b75ee36_7_2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53b75ee36_7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GB"/>
              <a:t>[Presenter: </a:t>
            </a:r>
            <a:r>
              <a:rPr b="1" i="1" lang="en-GB"/>
              <a:t>Kim</a:t>
            </a:r>
            <a:r>
              <a:rPr i="1" lang="en-GB"/>
              <a:t> ; 1 min]</a:t>
            </a:r>
            <a:endParaRPr/>
          </a:p>
          <a:p>
            <a:pPr indent="0" lvl="0" marL="0" rtl="0" algn="l">
              <a:spcBef>
                <a:spcPts val="0"/>
              </a:spcBef>
              <a:spcAft>
                <a:spcPts val="0"/>
              </a:spcAft>
              <a:buClr>
                <a:schemeClr val="dk1"/>
              </a:buClr>
              <a:buSzPts val="1100"/>
              <a:buFont typeface="Arial"/>
              <a:buNone/>
            </a:pPr>
            <a:r>
              <a:rPr lang="en-GB"/>
              <a:t>This matrix summarizes each of the previous use cases and links them to the three objectives we just identified.</a:t>
            </a:r>
            <a:endParaRPr/>
          </a:p>
          <a:p>
            <a:pPr indent="0" lvl="0" marL="0" rtl="0" algn="l">
              <a:spcBef>
                <a:spcPts val="0"/>
              </a:spcBef>
              <a:spcAft>
                <a:spcPts val="0"/>
              </a:spcAft>
              <a:buClr>
                <a:schemeClr val="dk1"/>
              </a:buClr>
              <a:buSzPts val="1100"/>
              <a:buFont typeface="Arial"/>
              <a:buNone/>
            </a:pPr>
            <a:r>
              <a:rPr lang="en-GB"/>
              <a:t>We refer to the project proposal for a similar matrix that explains in which year and in what work package tasks each of these cells will be studied.</a:t>
            </a:r>
            <a:endParaRPr/>
          </a:p>
          <a:p>
            <a:pPr indent="0" lvl="0" marL="0" rtl="0" algn="l">
              <a:spcBef>
                <a:spcPts val="0"/>
              </a:spcBef>
              <a:spcAft>
                <a:spcPts val="0"/>
              </a:spcAft>
              <a:buClr>
                <a:schemeClr val="dk1"/>
              </a:buClr>
              <a:buSzPts val="1100"/>
              <a:buFont typeface="Arial"/>
              <a:buNone/>
            </a:pPr>
            <a:r>
              <a:rPr lang="en-GB"/>
              <a:t>What we want to emphasize here on this slide is that our ambition in the project is to address each of the objectives (i.e. program understanding, detection of anomalies and recommendations for modernisation actions) from the perspective of each of the use cases.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Let’s just zoom into one (UC1 - Obj.A) :</a:t>
            </a:r>
            <a:endParaRPr/>
          </a:p>
          <a:p>
            <a:pPr indent="0" lvl="0" marL="0" rtl="0" algn="l">
              <a:spcBef>
                <a:spcPts val="0"/>
              </a:spcBef>
              <a:spcAft>
                <a:spcPts val="0"/>
              </a:spcAft>
              <a:buClr>
                <a:schemeClr val="dk1"/>
              </a:buClr>
              <a:buSzPts val="1100"/>
              <a:buFont typeface="Arial"/>
              <a:buNone/>
            </a:pPr>
            <a:r>
              <a:rPr lang="en-GB"/>
              <a:t>Use case 1 is about discovering syntactic coding idioms and conventions in the code of a legacy systems.</a:t>
            </a:r>
            <a:endParaRPr/>
          </a:p>
          <a:p>
            <a:pPr indent="0" lvl="0" marL="0" rtl="0" algn="l">
              <a:lnSpc>
                <a:spcPct val="115000"/>
              </a:lnSpc>
              <a:spcBef>
                <a:spcPts val="0"/>
              </a:spcBef>
              <a:spcAft>
                <a:spcPts val="0"/>
              </a:spcAft>
              <a:buClr>
                <a:schemeClr val="dk1"/>
              </a:buClr>
              <a:buSzPts val="1100"/>
              <a:buFont typeface="Arial"/>
              <a:buNone/>
            </a:pPr>
            <a:r>
              <a:rPr lang="en-GB"/>
              <a:t>Locations where undiscovered syntactic patterns occur can provide interesting information to Raincode’s engineers to better understand what is going on in the legacy system.</a:t>
            </a:r>
            <a:endParaRPr/>
          </a:p>
          <a:p>
            <a:pPr indent="0" lvl="0" marL="0" rtl="0" algn="l">
              <a:lnSpc>
                <a:spcPct val="115000"/>
              </a:lnSpc>
              <a:spcBef>
                <a:spcPts val="0"/>
              </a:spcBef>
              <a:spcAft>
                <a:spcPts val="0"/>
              </a:spcAft>
              <a:buClr>
                <a:schemeClr val="dk1"/>
              </a:buClr>
              <a:buSzPts val="1100"/>
              <a:buFont typeface="Arial"/>
              <a:buNone/>
            </a:pPr>
            <a:r>
              <a:rPr lang="en-GB"/>
              <a:t>Once these patterns have been uncovered and understood they could then be used to replace the more complex syntactic patterns by simpler to understand and maintain higher-level code constructs, to enhance code reliability, understandability and maintainability.</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GB"/>
              <a:t>Vadim will now illustrate this with a real motivating example.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2" name="Shape 132"/>
        <p:cNvGrpSpPr/>
        <p:nvPr/>
      </p:nvGrpSpPr>
      <p:grpSpPr>
        <a:xfrm>
          <a:off x="0" y="0"/>
          <a:ext cx="0" cy="0"/>
          <a:chOff x="0" y="0"/>
          <a:chExt cx="0" cy="0"/>
        </a:xfrm>
      </p:grpSpPr>
      <p:sp>
        <p:nvSpPr>
          <p:cNvPr id="133" name="Google Shape;133;g2516d0c242_0_1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516d0c24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GB">
                <a:solidFill>
                  <a:schemeClr val="dk1"/>
                </a:solidFill>
              </a:rPr>
              <a:t>[Presenter: </a:t>
            </a:r>
            <a:r>
              <a:rPr b="1" i="1" lang="en-GB">
                <a:solidFill>
                  <a:schemeClr val="dk1"/>
                </a:solidFill>
              </a:rPr>
              <a:t>Coen</a:t>
            </a:r>
            <a:r>
              <a:rPr i="1" lang="en-GB">
                <a:solidFill>
                  <a:schemeClr val="dk1"/>
                </a:solidFill>
              </a:rPr>
              <a:t> ; 1 min 30 sec]</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GB"/>
              <a:t>So, how will we realise our modernisation support? We have 3 technical work packages. </a:t>
            </a:r>
            <a:endParaRPr/>
          </a:p>
          <a:p>
            <a:pPr indent="-298450" lvl="0" marL="457200" rtl="0" algn="l">
              <a:spcBef>
                <a:spcPts val="0"/>
              </a:spcBef>
              <a:spcAft>
                <a:spcPts val="0"/>
              </a:spcAft>
              <a:buSzPts val="1100"/>
              <a:buChar char="●"/>
            </a:pPr>
            <a:r>
              <a:rPr lang="en-GB"/>
              <a:t>The first one is dedicated to developing a data representation for a system’s source code so that this source code can be given as input to a pattern mining algorithm. Based on our experience, this representation is likely to be graph-based in nature. What’s new is that it needs to be language-parametric in order to support multiple programming languages. </a:t>
            </a:r>
            <a:endParaRPr/>
          </a:p>
          <a:p>
            <a:pPr indent="-298450" lvl="0" marL="457200" rtl="0" algn="l">
              <a:spcBef>
                <a:spcPts val="0"/>
              </a:spcBef>
              <a:spcAft>
                <a:spcPts val="0"/>
              </a:spcAft>
              <a:buSzPts val="1100"/>
              <a:buChar char="●"/>
            </a:pPr>
            <a:r>
              <a:rPr lang="en-GB"/>
              <a:t>The second one is dedicated to the actual pattern mining algorithms. It is their job to uncover previously unknown patterns in the graph-based representation of the source code. We will start from a generic frequent subgraph mining algorithm, and incrementally adapt it to the specifics of the coding idioms in Y1, the usage patterns in Y2, and the edit patterns in Y3. Key will be an appropriate definition of support and relevance for each pattern type, to ensure that the uncovered patterns are useful and non-redundant. </a:t>
            </a:r>
            <a:endParaRPr/>
          </a:p>
          <a:p>
            <a:pPr indent="-298450" lvl="0" marL="457200" rtl="0" algn="l">
              <a:spcBef>
                <a:spcPts val="0"/>
              </a:spcBef>
              <a:spcAft>
                <a:spcPts val="0"/>
              </a:spcAft>
              <a:buSzPts val="1100"/>
              <a:buChar char="●"/>
            </a:pPr>
            <a:r>
              <a:rPr lang="en-GB"/>
              <a:t>The third work package is dedicated to the actual support that we can offer to the modernisation engineer based on the output of the mining algorithms. Here too, we will work incrementally. We will start from a simple browser for inspecting the uncovered patterns and their instances in the source code. This browser offers the engineer program comprehension support. </a:t>
            </a:r>
            <a:r>
              <a:rPr lang="en-GB">
                <a:solidFill>
                  <a:schemeClr val="dk1"/>
                </a:solidFill>
              </a:rPr>
              <a:t>Next, we will f</a:t>
            </a:r>
            <a:r>
              <a:rPr lang="en-GB"/>
              <a:t>ocus on pattern matching algorithms capable of detecting close, but incomplete matches for a mined pattern in the source code. These form the basis for our anomaly detection support. Finally, we will investigate how to offer this support pro-actively rather than in an on-demand manner.  This entails launching the matching algorithms continuously in the background, and against a window of past and ongoing edits of the engineer, so that we can recommend completions for the engineer’s edits.</a:t>
            </a:r>
            <a:endParaRPr/>
          </a:p>
          <a:p>
            <a:pPr indent="0" lvl="0" marL="0" rtl="0" algn="l">
              <a:spcBef>
                <a:spcPts val="0"/>
              </a:spcBef>
              <a:spcAft>
                <a:spcPts val="0"/>
              </a:spcAft>
              <a:buClr>
                <a:schemeClr val="dk1"/>
              </a:buClr>
              <a:buSzPts val="1100"/>
              <a:buFont typeface="Arial"/>
              <a:buNone/>
            </a:pPr>
            <a:r>
              <a:rPr lang="en-GB"/>
              <a:t>Transversal to these WPs is WP0, dedicated to the continuous evaluation of our technology ---which will be both in-vitro and in-vivo. In-vitro by the academic partners on small, </a:t>
            </a:r>
            <a:r>
              <a:rPr lang="en-GB">
                <a:solidFill>
                  <a:schemeClr val="dk1"/>
                </a:solidFill>
              </a:rPr>
              <a:t>open-source systems in contemporary languages. And in-vivo by the industrial partner on </a:t>
            </a:r>
            <a:r>
              <a:rPr lang="en-GB"/>
              <a:t>real legacy software systems from its clients.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2" name="Shape 162"/>
        <p:cNvGrpSpPr/>
        <p:nvPr/>
      </p:nvGrpSpPr>
      <p:grpSpPr>
        <a:xfrm>
          <a:off x="0" y="0"/>
          <a:ext cx="0" cy="0"/>
          <a:chOff x="0" y="0"/>
          <a:chExt cx="0" cy="0"/>
        </a:xfrm>
      </p:grpSpPr>
      <p:sp>
        <p:nvSpPr>
          <p:cNvPr id="163" name="Google Shape;163;g253b75ee36_7_7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53b75ee36_7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GB">
                <a:solidFill>
                  <a:schemeClr val="dk1"/>
                </a:solidFill>
              </a:rPr>
              <a:t>[Presenter: </a:t>
            </a:r>
            <a:r>
              <a:rPr b="1" i="1" lang="en-GB">
                <a:solidFill>
                  <a:schemeClr val="dk1"/>
                </a:solidFill>
              </a:rPr>
              <a:t>Coen</a:t>
            </a:r>
            <a:r>
              <a:rPr i="1" lang="en-GB">
                <a:solidFill>
                  <a:schemeClr val="dk1"/>
                </a:solidFill>
              </a:rPr>
              <a:t> ; 30 sec – cf. section E.1.4 in report]</a:t>
            </a:r>
            <a:endParaRPr i="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So, as was mentioned in the beginning, VUB will function as coordinator for the project. This because we have a lot of experience leading and participating in collaborative research projects such as this one.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In bold, you can also see who will lead the activities in each WP. The leader roughly corresponds to the partner with the most expertise in this area.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pattern mining and matching algorithms are left to the academic partners, while the industrial partner is closely involved in the work on the modernisation support itself and on its evaluation on legacy systems. </a:t>
            </a:r>
            <a:br>
              <a:rPr lang="en-GB">
                <a:solidFill>
                  <a:schemeClr val="dk1"/>
                </a:solidFill>
              </a:rPr>
            </a:br>
            <a:r>
              <a:rPr lang="en-GB">
                <a:solidFill>
                  <a:schemeClr val="dk1"/>
                </a:solidFill>
              </a:rPr>
              <a:t>Of course, the academic partners cannot be involved in the latter as it involves property of Raincode’s clients.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0" name="Shape 250"/>
        <p:cNvGrpSpPr/>
        <p:nvPr/>
      </p:nvGrpSpPr>
      <p:grpSpPr>
        <a:xfrm>
          <a:off x="0" y="0"/>
          <a:ext cx="0" cy="0"/>
          <a:chOff x="0" y="0"/>
          <a:chExt cx="0" cy="0"/>
        </a:xfrm>
      </p:grpSpPr>
      <p:sp>
        <p:nvSpPr>
          <p:cNvPr id="251" name="Google Shape;251;g5fd9826792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5fd982679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6" name="Shape 256"/>
        <p:cNvGrpSpPr/>
        <p:nvPr/>
      </p:nvGrpSpPr>
      <p:grpSpPr>
        <a:xfrm>
          <a:off x="0" y="0"/>
          <a:ext cx="0" cy="0"/>
          <a:chOff x="0" y="0"/>
          <a:chExt cx="0" cy="0"/>
        </a:xfrm>
      </p:grpSpPr>
      <p:sp>
        <p:nvSpPr>
          <p:cNvPr id="257" name="Google Shape;257;g5fd9826792_0_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5fd982679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2" name="Shape 262"/>
        <p:cNvGrpSpPr/>
        <p:nvPr/>
      </p:nvGrpSpPr>
      <p:grpSpPr>
        <a:xfrm>
          <a:off x="0" y="0"/>
          <a:ext cx="0" cy="0"/>
          <a:chOff x="0" y="0"/>
          <a:chExt cx="0" cy="0"/>
        </a:xfrm>
      </p:grpSpPr>
      <p:sp>
        <p:nvSpPr>
          <p:cNvPr id="263" name="Google Shape;263;g5fd9826792_0_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5fd982679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8" name="Shape 278"/>
        <p:cNvGrpSpPr/>
        <p:nvPr/>
      </p:nvGrpSpPr>
      <p:grpSpPr>
        <a:xfrm>
          <a:off x="0" y="0"/>
          <a:ext cx="0" cy="0"/>
          <a:chOff x="0" y="0"/>
          <a:chExt cx="0" cy="0"/>
        </a:xfrm>
      </p:grpSpPr>
      <p:sp>
        <p:nvSpPr>
          <p:cNvPr id="279" name="Google Shape;279;g5fd9826792_0_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5fd982679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150">
                <a:solidFill>
                  <a:srgbClr val="1D1C1D"/>
                </a:solidFill>
                <a:highlight>
                  <a:srgbClr val="F8F8F8"/>
                </a:highlight>
              </a:rPr>
              <a:t>op de slide staat nu een voorbeeld waarin het gebruik van de Swing library is geanalyseerd</a:t>
            </a:r>
            <a:endParaRPr sz="1150">
              <a:solidFill>
                <a:srgbClr val="1D1C1D"/>
              </a:solidFill>
              <a:highlight>
                <a:srgbClr val="F8F8F8"/>
              </a:highlight>
            </a:endParaRPr>
          </a:p>
          <a:p>
            <a:pPr indent="0" lvl="0" marL="0" rtl="0" algn="l">
              <a:spcBef>
                <a:spcPts val="0"/>
              </a:spcBef>
              <a:spcAft>
                <a:spcPts val="0"/>
              </a:spcAft>
              <a:buNone/>
            </a:pPr>
            <a:r>
              <a:rPr lang="en-GB" sz="1150">
                <a:solidFill>
                  <a:srgbClr val="1D1C1D"/>
                </a:solidFill>
                <a:highlight>
                  <a:srgbClr val="F8F8F8"/>
                </a:highlight>
              </a:rPr>
              <a:t>het pattern kan je kort beschrijven als “dit is wat je typisch zou doen om een tabel met een scrollbar aan je GUI applicatie toe te voegen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4" name="Shape 294"/>
        <p:cNvGrpSpPr/>
        <p:nvPr/>
      </p:nvGrpSpPr>
      <p:grpSpPr>
        <a:xfrm>
          <a:off x="0" y="0"/>
          <a:ext cx="0" cy="0"/>
          <a:chOff x="0" y="0"/>
          <a:chExt cx="0" cy="0"/>
        </a:xfrm>
      </p:grpSpPr>
      <p:sp>
        <p:nvSpPr>
          <p:cNvPr id="295" name="Google Shape;295;g5fd9826792_0_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5fd982679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2" name="Shape 302"/>
        <p:cNvGrpSpPr/>
        <p:nvPr/>
      </p:nvGrpSpPr>
      <p:grpSpPr>
        <a:xfrm>
          <a:off x="0" y="0"/>
          <a:ext cx="0" cy="0"/>
          <a:chOff x="0" y="0"/>
          <a:chExt cx="0" cy="0"/>
        </a:xfrm>
      </p:grpSpPr>
      <p:sp>
        <p:nvSpPr>
          <p:cNvPr id="303" name="Google Shape;303;g5fd9826792_1_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5fd9826792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9.jpg"/><Relationship Id="rId6" Type="http://schemas.openxmlformats.org/officeDocument/2006/relationships/image" Target="../media/image2.png"/><Relationship Id="rId7" Type="http://schemas.openxmlformats.org/officeDocument/2006/relationships/image" Target="../media/image18.png"/><Relationship Id="rId8"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gif"/><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4.png"/><Relationship Id="rId7"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50" y="2913975"/>
            <a:ext cx="9144000" cy="158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latin typeface="Syncopate"/>
                <a:ea typeface="Syncopate"/>
                <a:cs typeface="Syncopate"/>
                <a:sym typeface="Syncopate"/>
              </a:rPr>
              <a:t>Intelligent Modernisation Assistance for Legacy Software </a:t>
            </a:r>
            <a:endParaRPr>
              <a:latin typeface="Syncopate"/>
              <a:ea typeface="Syncopate"/>
              <a:cs typeface="Syncopate"/>
              <a:sym typeface="Syncopate"/>
            </a:endParaRPr>
          </a:p>
          <a:p>
            <a:pPr indent="0" lvl="0" marL="0" rtl="0" algn="ctr">
              <a:spcBef>
                <a:spcPts val="0"/>
              </a:spcBef>
              <a:spcAft>
                <a:spcPts val="0"/>
              </a:spcAft>
              <a:buClr>
                <a:schemeClr val="dk1"/>
              </a:buClr>
              <a:buSzPts val="1100"/>
              <a:buFont typeface="Arial"/>
              <a:buNone/>
            </a:pPr>
            <a:r>
              <a:t/>
            </a:r>
            <a:endParaRPr>
              <a:latin typeface="Syncopate"/>
              <a:ea typeface="Syncopate"/>
              <a:cs typeface="Syncopate"/>
              <a:sym typeface="Syncopate"/>
            </a:endParaRPr>
          </a:p>
          <a:p>
            <a:pPr indent="0" lvl="0" marL="0" rtl="0" algn="ctr">
              <a:spcBef>
                <a:spcPts val="0"/>
              </a:spcBef>
              <a:spcAft>
                <a:spcPts val="0"/>
              </a:spcAft>
              <a:buClr>
                <a:srgbClr val="000000"/>
              </a:buClr>
              <a:buSzPts val="1100"/>
              <a:buFont typeface="Arial"/>
              <a:buNone/>
            </a:pPr>
            <a:r>
              <a:t/>
            </a:r>
            <a:endParaRPr>
              <a:latin typeface="Syncopate"/>
              <a:ea typeface="Syncopate"/>
              <a:cs typeface="Syncopate"/>
              <a:sym typeface="Syncopate"/>
            </a:endParaRPr>
          </a:p>
        </p:txBody>
      </p:sp>
      <p:pic>
        <p:nvPicPr>
          <p:cNvPr descr="VUB LOGO-RGB.jpg" id="55" name="Google Shape;55;p13"/>
          <p:cNvPicPr preferRelativeResize="0"/>
          <p:nvPr/>
        </p:nvPicPr>
        <p:blipFill>
          <a:blip r:embed="rId3">
            <a:alphaModFix/>
          </a:blip>
          <a:stretch>
            <a:fillRect/>
          </a:stretch>
        </p:blipFill>
        <p:spPr>
          <a:xfrm>
            <a:off x="611128" y="5328065"/>
            <a:ext cx="2325265" cy="1034700"/>
          </a:xfrm>
          <a:prstGeom prst="rect">
            <a:avLst/>
          </a:prstGeom>
          <a:noFill/>
          <a:ln>
            <a:noFill/>
          </a:ln>
        </p:spPr>
      </p:pic>
      <p:pic>
        <p:nvPicPr>
          <p:cNvPr descr="image_preview" id="56" name="Google Shape;56;p13"/>
          <p:cNvPicPr preferRelativeResize="0"/>
          <p:nvPr/>
        </p:nvPicPr>
        <p:blipFill>
          <a:blip r:embed="rId4">
            <a:alphaModFix/>
          </a:blip>
          <a:stretch>
            <a:fillRect/>
          </a:stretch>
        </p:blipFill>
        <p:spPr>
          <a:xfrm>
            <a:off x="0" y="0"/>
            <a:ext cx="1491800" cy="1648375"/>
          </a:xfrm>
          <a:prstGeom prst="rect">
            <a:avLst/>
          </a:prstGeom>
          <a:noFill/>
          <a:ln>
            <a:noFill/>
          </a:ln>
        </p:spPr>
      </p:pic>
      <p:pic>
        <p:nvPicPr>
          <p:cNvPr descr="sHEsdpRa_400x400.jpeg" id="57" name="Google Shape;57;p13"/>
          <p:cNvPicPr preferRelativeResize="0"/>
          <p:nvPr/>
        </p:nvPicPr>
        <p:blipFill>
          <a:blip r:embed="rId5">
            <a:alphaModFix/>
          </a:blip>
          <a:stretch>
            <a:fillRect/>
          </a:stretch>
        </p:blipFill>
        <p:spPr>
          <a:xfrm>
            <a:off x="7815950" y="198263"/>
            <a:ext cx="1251850" cy="1251850"/>
          </a:xfrm>
          <a:prstGeom prst="rect">
            <a:avLst/>
          </a:prstGeom>
          <a:noFill/>
          <a:ln>
            <a:noFill/>
          </a:ln>
        </p:spPr>
      </p:pic>
      <p:sp>
        <p:nvSpPr>
          <p:cNvPr id="58" name="Google Shape;58;p13"/>
          <p:cNvSpPr txBox="1"/>
          <p:nvPr/>
        </p:nvSpPr>
        <p:spPr>
          <a:xfrm>
            <a:off x="3352638" y="4157000"/>
            <a:ext cx="2360700" cy="56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M18 Progress Meeting</a:t>
            </a:r>
            <a:endParaRPr/>
          </a:p>
          <a:p>
            <a:pPr indent="0" lvl="0" marL="0" rtl="0" algn="ctr">
              <a:spcBef>
                <a:spcPts val="0"/>
              </a:spcBef>
              <a:spcAft>
                <a:spcPts val="0"/>
              </a:spcAft>
              <a:buNone/>
            </a:pPr>
            <a:r>
              <a:rPr lang="en-GB"/>
              <a:t>August 22nd, 2019 10:00</a:t>
            </a:r>
            <a:endParaRPr/>
          </a:p>
        </p:txBody>
      </p:sp>
      <p:pic>
        <p:nvPicPr>
          <p:cNvPr id="59" name="Google Shape;59;p13"/>
          <p:cNvPicPr preferRelativeResize="0"/>
          <p:nvPr/>
        </p:nvPicPr>
        <p:blipFill>
          <a:blip r:embed="rId6">
            <a:alphaModFix/>
          </a:blip>
          <a:stretch>
            <a:fillRect/>
          </a:stretch>
        </p:blipFill>
        <p:spPr>
          <a:xfrm>
            <a:off x="7124596" y="4922755"/>
            <a:ext cx="1341875" cy="1858475"/>
          </a:xfrm>
          <a:prstGeom prst="rect">
            <a:avLst/>
          </a:prstGeom>
          <a:noFill/>
          <a:ln>
            <a:noFill/>
          </a:ln>
        </p:spPr>
      </p:pic>
      <p:pic>
        <p:nvPicPr>
          <p:cNvPr id="60" name="Google Shape;60;p13"/>
          <p:cNvPicPr preferRelativeResize="0"/>
          <p:nvPr/>
        </p:nvPicPr>
        <p:blipFill>
          <a:blip r:embed="rId7">
            <a:alphaModFix/>
          </a:blip>
          <a:stretch>
            <a:fillRect/>
          </a:stretch>
        </p:blipFill>
        <p:spPr>
          <a:xfrm>
            <a:off x="3127064" y="5432519"/>
            <a:ext cx="3097225" cy="838925"/>
          </a:xfrm>
          <a:prstGeom prst="rect">
            <a:avLst/>
          </a:prstGeom>
          <a:noFill/>
          <a:ln>
            <a:noFill/>
          </a:ln>
        </p:spPr>
      </p:pic>
      <p:pic>
        <p:nvPicPr>
          <p:cNvPr id="61" name="Google Shape;61;p13"/>
          <p:cNvPicPr preferRelativeResize="0"/>
          <p:nvPr/>
        </p:nvPicPr>
        <p:blipFill>
          <a:blip r:embed="rId8">
            <a:alphaModFix/>
          </a:blip>
          <a:stretch>
            <a:fillRect/>
          </a:stretch>
        </p:blipFill>
        <p:spPr>
          <a:xfrm>
            <a:off x="2838748" y="-166650"/>
            <a:ext cx="3388500" cy="3388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4A86E8"/>
                </a:solidFill>
                <a:latin typeface="Syncopate"/>
                <a:ea typeface="Syncopate"/>
                <a:cs typeface="Syncopate"/>
                <a:sym typeface="Syncopate"/>
              </a:rPr>
              <a:t>goal</a:t>
            </a:r>
            <a:endParaRPr>
              <a:latin typeface="Syncopate"/>
              <a:ea typeface="Syncopate"/>
              <a:cs typeface="Syncopate"/>
              <a:sym typeface="Syncopate"/>
            </a:endParaRPr>
          </a:p>
        </p:txBody>
      </p:sp>
      <p:sp>
        <p:nvSpPr>
          <p:cNvPr id="67" name="Google Shape;67;p1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i="1" lang="en-GB"/>
              <a:t>Towards an intelligent modernisation assistant for legacy software</a:t>
            </a:r>
            <a:endParaRPr b="1" i="1"/>
          </a:p>
          <a:p>
            <a:pPr indent="0" lvl="0" marL="0" rtl="0" algn="l">
              <a:spcBef>
                <a:spcPts val="1600"/>
              </a:spcBef>
              <a:spcAft>
                <a:spcPts val="0"/>
              </a:spcAft>
              <a:buClr>
                <a:schemeClr val="dk1"/>
              </a:buClr>
              <a:buSzPts val="1100"/>
              <a:buFont typeface="Arial"/>
              <a:buNone/>
            </a:pPr>
            <a:br>
              <a:rPr lang="en-GB">
                <a:latin typeface="Syncopate"/>
                <a:ea typeface="Syncopate"/>
                <a:cs typeface="Syncopate"/>
                <a:sym typeface="Syncopate"/>
              </a:rPr>
            </a:br>
            <a:r>
              <a:rPr lang="en-GB">
                <a:latin typeface="Syncopate"/>
                <a:ea typeface="Syncopate"/>
                <a:cs typeface="Syncopate"/>
                <a:sym typeface="Syncopate"/>
              </a:rPr>
              <a:t>Key idea</a:t>
            </a:r>
            <a:endParaRPr>
              <a:latin typeface="Syncopate"/>
              <a:ea typeface="Syncopate"/>
              <a:cs typeface="Syncopate"/>
              <a:sym typeface="Syncopate"/>
            </a:endParaRPr>
          </a:p>
          <a:p>
            <a:pPr indent="457200" lvl="0" marL="0" rtl="0" algn="l">
              <a:spcBef>
                <a:spcPts val="1600"/>
              </a:spcBef>
              <a:spcAft>
                <a:spcPts val="0"/>
              </a:spcAft>
              <a:buClr>
                <a:schemeClr val="dk1"/>
              </a:buClr>
              <a:buSzPts val="1100"/>
              <a:buFont typeface="Arial"/>
              <a:buNone/>
            </a:pPr>
            <a:r>
              <a:rPr b="1" lang="en-GB"/>
              <a:t>Automating</a:t>
            </a:r>
            <a:r>
              <a:rPr lang="en-GB"/>
              <a:t> migration requires </a:t>
            </a:r>
            <a:r>
              <a:rPr b="1" lang="en-GB"/>
              <a:t>pattern discovery </a:t>
            </a:r>
            <a:endParaRPr b="1"/>
          </a:p>
          <a:p>
            <a:pPr indent="457200" lvl="0" marL="0" rtl="0" algn="l">
              <a:spcBef>
                <a:spcPts val="1600"/>
              </a:spcBef>
              <a:spcAft>
                <a:spcPts val="0"/>
              </a:spcAft>
              <a:buClr>
                <a:schemeClr val="dk1"/>
              </a:buClr>
              <a:buSzPts val="1100"/>
              <a:buFont typeface="Arial"/>
              <a:buNone/>
            </a:pPr>
            <a:r>
              <a:rPr lang="en-GB"/>
              <a:t>Mining </a:t>
            </a:r>
            <a:r>
              <a:rPr b="1" lang="en-GB"/>
              <a:t>≠</a:t>
            </a:r>
            <a:r>
              <a:rPr lang="en-GB"/>
              <a:t> kinds of </a:t>
            </a:r>
            <a:r>
              <a:rPr b="1" lang="en-GB"/>
              <a:t>patterns</a:t>
            </a:r>
            <a:r>
              <a:rPr lang="en-GB"/>
              <a:t> in </a:t>
            </a:r>
            <a:r>
              <a:rPr b="1" lang="en-GB"/>
              <a:t>3 use cases </a:t>
            </a:r>
            <a:r>
              <a:rPr lang="en-GB"/>
              <a:t>for </a:t>
            </a:r>
            <a:r>
              <a:rPr b="1" lang="en-GB"/>
              <a:t>3 objectives</a:t>
            </a:r>
            <a:endParaRPr b="1"/>
          </a:p>
          <a:p>
            <a:pPr indent="457200" lvl="0" marL="0" rtl="0" algn="l">
              <a:spcBef>
                <a:spcPts val="1600"/>
              </a:spcBef>
              <a:spcAft>
                <a:spcPts val="0"/>
              </a:spcAft>
              <a:buClr>
                <a:schemeClr val="dk1"/>
              </a:buClr>
              <a:buSzPts val="1100"/>
              <a:buFont typeface="Arial"/>
              <a:buNone/>
            </a:pPr>
            <a:r>
              <a:t/>
            </a:r>
            <a:endParaRPr/>
          </a:p>
          <a:p>
            <a:pPr indent="45720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Clr>
                <a:schemeClr val="dk1"/>
              </a:buClr>
              <a:buSzPts val="1100"/>
              <a:buFont typeface="Arial"/>
              <a:buNone/>
            </a:pPr>
            <a:r>
              <a:t/>
            </a:r>
            <a:endParaRPr>
              <a:latin typeface="Syncopate"/>
              <a:ea typeface="Syncopate"/>
              <a:cs typeface="Syncopate"/>
              <a:sym typeface="Syncopate"/>
            </a:endParaRPr>
          </a:p>
        </p:txBody>
      </p:sp>
      <p:sp>
        <p:nvSpPr>
          <p:cNvPr id="68" name="Google Shape;68;p14"/>
          <p:cNvSpPr txBox="1"/>
          <p:nvPr/>
        </p:nvSpPr>
        <p:spPr>
          <a:xfrm>
            <a:off x="2051325" y="6118000"/>
            <a:ext cx="1157700" cy="523200"/>
          </a:xfrm>
          <a:prstGeom prst="rect">
            <a:avLst/>
          </a:prstGeom>
          <a:solidFill>
            <a:srgbClr val="FCE5CD"/>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GB">
                <a:solidFill>
                  <a:schemeClr val="dk2"/>
                </a:solidFill>
              </a:rPr>
              <a:t>Objective C</a:t>
            </a:r>
            <a:endParaRPr>
              <a:solidFill>
                <a:srgbClr val="8E7CC3"/>
              </a:solidFill>
            </a:endParaRPr>
          </a:p>
        </p:txBody>
      </p:sp>
      <p:sp>
        <p:nvSpPr>
          <p:cNvPr id="69" name="Google Shape;69;p14"/>
          <p:cNvSpPr txBox="1"/>
          <p:nvPr/>
        </p:nvSpPr>
        <p:spPr>
          <a:xfrm>
            <a:off x="2051325" y="5484925"/>
            <a:ext cx="1157700" cy="523200"/>
          </a:xfrm>
          <a:prstGeom prst="rect">
            <a:avLst/>
          </a:prstGeom>
          <a:solidFill>
            <a:srgbClr val="F4CCCC"/>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GB">
                <a:solidFill>
                  <a:schemeClr val="dk2"/>
                </a:solidFill>
              </a:rPr>
              <a:t>Objective B</a:t>
            </a:r>
            <a:endParaRPr>
              <a:solidFill>
                <a:srgbClr val="E06666"/>
              </a:solidFill>
            </a:endParaRPr>
          </a:p>
        </p:txBody>
      </p:sp>
      <p:sp>
        <p:nvSpPr>
          <p:cNvPr id="70" name="Google Shape;70;p14"/>
          <p:cNvSpPr txBox="1"/>
          <p:nvPr/>
        </p:nvSpPr>
        <p:spPr>
          <a:xfrm>
            <a:off x="2051250" y="4844650"/>
            <a:ext cx="1157700" cy="530400"/>
          </a:xfrm>
          <a:prstGeom prst="rect">
            <a:avLst/>
          </a:prstGeom>
          <a:solidFill>
            <a:srgbClr val="E6B8A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chemeClr val="dk2"/>
                </a:solidFill>
              </a:rPr>
              <a:t>Objective A</a:t>
            </a:r>
            <a:endParaRPr>
              <a:solidFill>
                <a:srgbClr val="E06666"/>
              </a:solidFill>
            </a:endParaRPr>
          </a:p>
        </p:txBody>
      </p:sp>
      <p:sp>
        <p:nvSpPr>
          <p:cNvPr id="71" name="Google Shape;71;p14"/>
          <p:cNvSpPr txBox="1"/>
          <p:nvPr/>
        </p:nvSpPr>
        <p:spPr>
          <a:xfrm>
            <a:off x="5813201" y="4155311"/>
            <a:ext cx="1071000" cy="525900"/>
          </a:xfrm>
          <a:prstGeom prst="rect">
            <a:avLst/>
          </a:prstGeom>
          <a:solidFill>
            <a:srgbClr val="CFE2F3"/>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GB">
                <a:solidFill>
                  <a:schemeClr val="dk2"/>
                </a:solidFill>
              </a:rPr>
              <a:t>use case 3</a:t>
            </a:r>
            <a:endParaRPr>
              <a:solidFill>
                <a:schemeClr val="dk2"/>
              </a:solidFill>
            </a:endParaRPr>
          </a:p>
          <a:p>
            <a:pPr indent="0" lvl="0" marL="0" rtl="0" algn="ctr">
              <a:lnSpc>
                <a:spcPct val="100000"/>
              </a:lnSpc>
              <a:spcBef>
                <a:spcPts val="0"/>
              </a:spcBef>
              <a:spcAft>
                <a:spcPts val="0"/>
              </a:spcAft>
              <a:buNone/>
            </a:pPr>
            <a:br>
              <a:rPr lang="en-GB">
                <a:solidFill>
                  <a:schemeClr val="dk2"/>
                </a:solidFill>
              </a:rPr>
            </a:br>
            <a:br>
              <a:rPr lang="en-GB">
                <a:solidFill>
                  <a:schemeClr val="dk2"/>
                </a:solidFill>
              </a:rPr>
            </a:br>
            <a:endParaRPr>
              <a:solidFill>
                <a:srgbClr val="8E7CC3"/>
              </a:solidFill>
            </a:endParaRPr>
          </a:p>
        </p:txBody>
      </p:sp>
      <p:sp>
        <p:nvSpPr>
          <p:cNvPr id="72" name="Google Shape;72;p14"/>
          <p:cNvSpPr txBox="1"/>
          <p:nvPr/>
        </p:nvSpPr>
        <p:spPr>
          <a:xfrm>
            <a:off x="4587577" y="4157391"/>
            <a:ext cx="1071000" cy="525900"/>
          </a:xfrm>
          <a:prstGeom prst="rect">
            <a:avLst/>
          </a:prstGeom>
          <a:solidFill>
            <a:srgbClr val="D0E0E3"/>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GB">
                <a:solidFill>
                  <a:schemeClr val="dk2"/>
                </a:solidFill>
              </a:rPr>
              <a:t>use case 2</a:t>
            </a:r>
            <a:endParaRPr>
              <a:solidFill>
                <a:srgbClr val="E06666"/>
              </a:solidFill>
            </a:endParaRPr>
          </a:p>
        </p:txBody>
      </p:sp>
      <p:sp>
        <p:nvSpPr>
          <p:cNvPr id="73" name="Google Shape;73;p14"/>
          <p:cNvSpPr txBox="1"/>
          <p:nvPr/>
        </p:nvSpPr>
        <p:spPr>
          <a:xfrm>
            <a:off x="3361963" y="4153150"/>
            <a:ext cx="1071000" cy="530400"/>
          </a:xfrm>
          <a:prstGeom prst="rect">
            <a:avLst/>
          </a:prstGeom>
          <a:solidFill>
            <a:srgbClr val="D9EAD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chemeClr val="dk2"/>
                </a:solidFill>
              </a:rPr>
              <a:t>use case 1</a:t>
            </a:r>
            <a:endParaRPr b="1">
              <a:solidFill>
                <a:schemeClr val="dk2"/>
              </a:solidFill>
            </a:endParaRPr>
          </a:p>
          <a:p>
            <a:pPr indent="0" lvl="0" marL="0" rtl="0" algn="ctr">
              <a:spcBef>
                <a:spcPts val="0"/>
              </a:spcBef>
              <a:spcAft>
                <a:spcPts val="0"/>
              </a:spcAft>
              <a:buNone/>
            </a:pPr>
            <a:r>
              <a:t/>
            </a:r>
            <a:endParaRPr>
              <a:solidFill>
                <a:srgbClr val="E06666"/>
              </a:solidFill>
            </a:endParaRPr>
          </a:p>
        </p:txBody>
      </p:sp>
      <p:sp>
        <p:nvSpPr>
          <p:cNvPr id="74" name="Google Shape;74;p14"/>
          <p:cNvSpPr/>
          <p:nvPr/>
        </p:nvSpPr>
        <p:spPr>
          <a:xfrm>
            <a:off x="3361963" y="4848264"/>
            <a:ext cx="1071000" cy="523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a:off x="3361963" y="5484937"/>
            <a:ext cx="1071000" cy="523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p:nvPr/>
        </p:nvSpPr>
        <p:spPr>
          <a:xfrm>
            <a:off x="3361963" y="6121610"/>
            <a:ext cx="1071000" cy="523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4585902" y="4848264"/>
            <a:ext cx="1071000" cy="523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4585902" y="5484937"/>
            <a:ext cx="1071000" cy="523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4585902" y="6121610"/>
            <a:ext cx="1071000" cy="523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5809841" y="4848264"/>
            <a:ext cx="1071000" cy="523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5809841" y="5484937"/>
            <a:ext cx="1071000" cy="523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5809841" y="6121610"/>
            <a:ext cx="1071000" cy="523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 name="Google Shape;83;p14"/>
          <p:cNvPicPr preferRelativeResize="0"/>
          <p:nvPr/>
        </p:nvPicPr>
        <p:blipFill>
          <a:blip r:embed="rId3">
            <a:alphaModFix/>
          </a:blip>
          <a:stretch>
            <a:fillRect/>
          </a:stretch>
        </p:blipFill>
        <p:spPr>
          <a:xfrm>
            <a:off x="6964501" y="459749"/>
            <a:ext cx="1813399" cy="878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7" name="Shape 87"/>
        <p:cNvGrpSpPr/>
        <p:nvPr/>
      </p:nvGrpSpPr>
      <p:grpSpPr>
        <a:xfrm>
          <a:off x="0" y="0"/>
          <a:ext cx="0" cy="0"/>
          <a:chOff x="0" y="0"/>
          <a:chExt cx="0" cy="0"/>
        </a:xfrm>
      </p:grpSpPr>
      <p:sp>
        <p:nvSpPr>
          <p:cNvPr id="88" name="Google Shape;88;p15"/>
          <p:cNvSpPr/>
          <p:nvPr/>
        </p:nvSpPr>
        <p:spPr>
          <a:xfrm>
            <a:off x="2502525" y="292287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2502525" y="424652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2502525" y="557017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a:off x="4617825" y="292287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a:off x="4617825" y="424652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a:off x="4617825" y="557017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p:nvPr/>
        </p:nvSpPr>
        <p:spPr>
          <a:xfrm>
            <a:off x="6733125" y="292287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p:nvPr/>
        </p:nvSpPr>
        <p:spPr>
          <a:xfrm>
            <a:off x="6733125" y="424652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p:cNvSpPr/>
          <p:nvPr/>
        </p:nvSpPr>
        <p:spPr>
          <a:xfrm>
            <a:off x="6733125" y="557017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7" name="Google Shape;97;p15"/>
          <p:cNvPicPr preferRelativeResize="0"/>
          <p:nvPr/>
        </p:nvPicPr>
        <p:blipFill>
          <a:blip r:embed="rId3">
            <a:alphaModFix/>
          </a:blip>
          <a:stretch>
            <a:fillRect/>
          </a:stretch>
        </p:blipFill>
        <p:spPr>
          <a:xfrm>
            <a:off x="666325" y="1405284"/>
            <a:ext cx="1293075" cy="1247700"/>
          </a:xfrm>
          <a:prstGeom prst="rect">
            <a:avLst/>
          </a:prstGeom>
          <a:noFill/>
          <a:ln>
            <a:noFill/>
          </a:ln>
        </p:spPr>
      </p:pic>
      <p:sp>
        <p:nvSpPr>
          <p:cNvPr id="98" name="Google Shape;98;p1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4A86E8"/>
                </a:solidFill>
                <a:latin typeface="Syncopate"/>
                <a:ea typeface="Syncopate"/>
                <a:cs typeface="Syncopate"/>
                <a:sym typeface="Syncopate"/>
              </a:rPr>
              <a:t>Ambition</a:t>
            </a:r>
            <a:endParaRPr>
              <a:latin typeface="Syncopate"/>
              <a:ea typeface="Syncopate"/>
              <a:cs typeface="Syncopate"/>
              <a:sym typeface="Syncopate"/>
            </a:endParaRPr>
          </a:p>
        </p:txBody>
      </p:sp>
      <p:sp>
        <p:nvSpPr>
          <p:cNvPr id="99" name="Google Shape;99;p15"/>
          <p:cNvSpPr txBox="1"/>
          <p:nvPr/>
        </p:nvSpPr>
        <p:spPr>
          <a:xfrm>
            <a:off x="387225" y="5562675"/>
            <a:ext cx="1851300" cy="10878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u="sng">
                <a:solidFill>
                  <a:schemeClr val="dk2"/>
                </a:solidFill>
              </a:rPr>
              <a:t>O</a:t>
            </a:r>
            <a:r>
              <a:rPr lang="en-GB" u="sng">
                <a:solidFill>
                  <a:schemeClr val="dk2"/>
                </a:solidFill>
              </a:rPr>
              <a:t>bjective C</a:t>
            </a:r>
            <a:br>
              <a:rPr lang="en-GB">
                <a:solidFill>
                  <a:schemeClr val="dk2"/>
                </a:solidFill>
              </a:rPr>
            </a:br>
            <a:r>
              <a:rPr b="1" lang="en-GB">
                <a:solidFill>
                  <a:schemeClr val="dk2"/>
                </a:solidFill>
              </a:rPr>
              <a:t>Modernisation</a:t>
            </a:r>
            <a:r>
              <a:rPr b="1" lang="en-GB">
                <a:solidFill>
                  <a:schemeClr val="dk2"/>
                </a:solidFill>
              </a:rPr>
              <a:t> assistance</a:t>
            </a:r>
            <a:endParaRPr>
              <a:solidFill>
                <a:schemeClr val="dk2"/>
              </a:solidFill>
            </a:endParaRPr>
          </a:p>
          <a:p>
            <a:pPr indent="0" lvl="0" marL="0" rtl="0" algn="l">
              <a:lnSpc>
                <a:spcPct val="100000"/>
              </a:lnSpc>
              <a:spcBef>
                <a:spcPts val="0"/>
              </a:spcBef>
              <a:spcAft>
                <a:spcPts val="0"/>
              </a:spcAft>
              <a:buNone/>
            </a:pPr>
            <a:br>
              <a:rPr lang="en-GB">
                <a:solidFill>
                  <a:schemeClr val="dk2"/>
                </a:solidFill>
              </a:rPr>
            </a:br>
            <a:endParaRPr>
              <a:solidFill>
                <a:srgbClr val="8E7CC3"/>
              </a:solidFill>
            </a:endParaRPr>
          </a:p>
        </p:txBody>
      </p:sp>
      <p:sp>
        <p:nvSpPr>
          <p:cNvPr id="100" name="Google Shape;100;p15"/>
          <p:cNvSpPr txBox="1"/>
          <p:nvPr/>
        </p:nvSpPr>
        <p:spPr>
          <a:xfrm>
            <a:off x="387225" y="4246525"/>
            <a:ext cx="1851300" cy="1087800"/>
          </a:xfrm>
          <a:prstGeom prst="rect">
            <a:avLst/>
          </a:prstGeom>
          <a:solidFill>
            <a:srgbClr val="F4CCCC"/>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u="sng">
                <a:solidFill>
                  <a:schemeClr val="dk2"/>
                </a:solidFill>
              </a:rPr>
              <a:t>O</a:t>
            </a:r>
            <a:r>
              <a:rPr lang="en-GB" u="sng">
                <a:solidFill>
                  <a:schemeClr val="dk2"/>
                </a:solidFill>
              </a:rPr>
              <a:t>bjective B</a:t>
            </a:r>
            <a:br>
              <a:rPr lang="en-GB">
                <a:solidFill>
                  <a:schemeClr val="dk2"/>
                </a:solidFill>
              </a:rPr>
            </a:br>
            <a:r>
              <a:rPr b="1" lang="en-GB">
                <a:solidFill>
                  <a:schemeClr val="dk2"/>
                </a:solidFill>
              </a:rPr>
              <a:t>Anomaly detection</a:t>
            </a:r>
            <a:endParaRPr b="1">
              <a:solidFill>
                <a:schemeClr val="dk2"/>
              </a:solidFill>
            </a:endParaRPr>
          </a:p>
          <a:p>
            <a:pPr indent="0" lvl="0" marL="0" rtl="0" algn="l">
              <a:lnSpc>
                <a:spcPct val="100000"/>
              </a:lnSpc>
              <a:spcBef>
                <a:spcPts val="0"/>
              </a:spcBef>
              <a:spcAft>
                <a:spcPts val="0"/>
              </a:spcAft>
              <a:buNone/>
            </a:pPr>
            <a:r>
              <a:t/>
            </a:r>
            <a:endParaRPr b="1">
              <a:solidFill>
                <a:schemeClr val="dk2"/>
              </a:solidFill>
            </a:endParaRPr>
          </a:p>
          <a:p>
            <a:pPr indent="0" lvl="0" marL="0" rtl="0" algn="l">
              <a:lnSpc>
                <a:spcPct val="100000"/>
              </a:lnSpc>
              <a:spcBef>
                <a:spcPts val="0"/>
              </a:spcBef>
              <a:spcAft>
                <a:spcPts val="0"/>
              </a:spcAft>
              <a:buNone/>
            </a:pPr>
            <a:r>
              <a:t/>
            </a:r>
            <a:endParaRPr>
              <a:solidFill>
                <a:srgbClr val="E06666"/>
              </a:solidFill>
            </a:endParaRPr>
          </a:p>
        </p:txBody>
      </p:sp>
      <p:sp>
        <p:nvSpPr>
          <p:cNvPr id="101" name="Google Shape;101;p15"/>
          <p:cNvSpPr txBox="1"/>
          <p:nvPr/>
        </p:nvSpPr>
        <p:spPr>
          <a:xfrm>
            <a:off x="387225" y="2915375"/>
            <a:ext cx="1851300" cy="1102800"/>
          </a:xfrm>
          <a:prstGeom prst="rect">
            <a:avLst/>
          </a:prstGeom>
          <a:solidFill>
            <a:srgbClr val="E6B8A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dk2"/>
                </a:solidFill>
              </a:rPr>
              <a:t>O</a:t>
            </a:r>
            <a:r>
              <a:rPr lang="en-GB" u="sng">
                <a:solidFill>
                  <a:schemeClr val="dk2"/>
                </a:solidFill>
              </a:rPr>
              <a:t>bjective A</a:t>
            </a:r>
            <a:br>
              <a:rPr lang="en-GB">
                <a:solidFill>
                  <a:schemeClr val="dk2"/>
                </a:solidFill>
              </a:rPr>
            </a:br>
            <a:r>
              <a:rPr b="1" lang="en-GB">
                <a:solidFill>
                  <a:schemeClr val="dk2"/>
                </a:solidFill>
              </a:rPr>
              <a:t>Program comprehension</a:t>
            </a:r>
            <a:endParaRPr>
              <a:solidFill>
                <a:srgbClr val="E06666"/>
              </a:solidFill>
            </a:endParaRPr>
          </a:p>
        </p:txBody>
      </p:sp>
      <p:sp>
        <p:nvSpPr>
          <p:cNvPr id="102" name="Google Shape;102;p15"/>
          <p:cNvSpPr txBox="1"/>
          <p:nvPr/>
        </p:nvSpPr>
        <p:spPr>
          <a:xfrm>
            <a:off x="6738932" y="1482218"/>
            <a:ext cx="1851300" cy="1093800"/>
          </a:xfrm>
          <a:prstGeom prst="rect">
            <a:avLst/>
          </a:prstGeom>
          <a:solidFill>
            <a:srgbClr val="CFE2F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u="sng">
                <a:solidFill>
                  <a:schemeClr val="dk2"/>
                </a:solidFill>
              </a:rPr>
              <a:t>use case </a:t>
            </a:r>
            <a:r>
              <a:rPr lang="en-GB" u="sng">
                <a:solidFill>
                  <a:schemeClr val="dk2"/>
                </a:solidFill>
              </a:rPr>
              <a:t>3</a:t>
            </a:r>
            <a:br>
              <a:rPr lang="en-GB">
                <a:solidFill>
                  <a:schemeClr val="dk2"/>
                </a:solidFill>
              </a:rPr>
            </a:br>
            <a:r>
              <a:rPr b="1" lang="en-GB">
                <a:solidFill>
                  <a:schemeClr val="dk2"/>
                </a:solidFill>
              </a:rPr>
              <a:t>Systematic edits</a:t>
            </a:r>
            <a:r>
              <a:rPr lang="en-GB">
                <a:solidFill>
                  <a:schemeClr val="dk2"/>
                </a:solidFill>
              </a:rPr>
              <a:t> or </a:t>
            </a:r>
            <a:r>
              <a:rPr b="1" lang="en-GB">
                <a:solidFill>
                  <a:schemeClr val="dk2"/>
                </a:solidFill>
              </a:rPr>
              <a:t>repetitive changes</a:t>
            </a:r>
            <a:r>
              <a:rPr lang="en-GB">
                <a:solidFill>
                  <a:schemeClr val="dk2"/>
                </a:solidFill>
              </a:rPr>
              <a:t> </a:t>
            </a:r>
            <a:endParaRPr>
              <a:solidFill>
                <a:schemeClr val="dk2"/>
              </a:solidFill>
            </a:endParaRPr>
          </a:p>
          <a:p>
            <a:pPr indent="0" lvl="0" marL="0" rtl="0" algn="l">
              <a:lnSpc>
                <a:spcPct val="100000"/>
              </a:lnSpc>
              <a:spcBef>
                <a:spcPts val="0"/>
              </a:spcBef>
              <a:spcAft>
                <a:spcPts val="0"/>
              </a:spcAft>
              <a:buNone/>
            </a:pPr>
            <a:br>
              <a:rPr lang="en-GB">
                <a:solidFill>
                  <a:schemeClr val="dk2"/>
                </a:solidFill>
              </a:rPr>
            </a:br>
            <a:br>
              <a:rPr lang="en-GB">
                <a:solidFill>
                  <a:schemeClr val="dk2"/>
                </a:solidFill>
              </a:rPr>
            </a:br>
            <a:endParaRPr>
              <a:solidFill>
                <a:srgbClr val="8E7CC3"/>
              </a:solidFill>
            </a:endParaRPr>
          </a:p>
        </p:txBody>
      </p:sp>
      <p:sp>
        <p:nvSpPr>
          <p:cNvPr id="103" name="Google Shape;103;p15"/>
          <p:cNvSpPr txBox="1"/>
          <p:nvPr/>
        </p:nvSpPr>
        <p:spPr>
          <a:xfrm>
            <a:off x="4620720" y="1486543"/>
            <a:ext cx="1851300" cy="1093800"/>
          </a:xfrm>
          <a:prstGeom prst="rect">
            <a:avLst/>
          </a:prstGeom>
          <a:solidFill>
            <a:srgbClr val="D0E0E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u="sng">
                <a:solidFill>
                  <a:schemeClr val="dk2"/>
                </a:solidFill>
              </a:rPr>
              <a:t>use case </a:t>
            </a:r>
            <a:r>
              <a:rPr lang="en-GB" u="sng">
                <a:solidFill>
                  <a:schemeClr val="dk2"/>
                </a:solidFill>
              </a:rPr>
              <a:t>2</a:t>
            </a:r>
            <a:r>
              <a:rPr lang="en-GB">
                <a:solidFill>
                  <a:schemeClr val="dk2"/>
                </a:solidFill>
              </a:rPr>
              <a:t> </a:t>
            </a:r>
            <a:br>
              <a:rPr lang="en-GB">
                <a:solidFill>
                  <a:schemeClr val="dk2"/>
                </a:solidFill>
              </a:rPr>
            </a:br>
            <a:r>
              <a:rPr b="1" lang="en-GB">
                <a:solidFill>
                  <a:schemeClr val="dk2"/>
                </a:solidFill>
              </a:rPr>
              <a:t>Library usage protocols</a:t>
            </a:r>
            <a:r>
              <a:rPr lang="en-GB">
                <a:solidFill>
                  <a:schemeClr val="dk2"/>
                </a:solidFill>
              </a:rPr>
              <a:t> and </a:t>
            </a:r>
            <a:r>
              <a:rPr b="1" lang="en-GB">
                <a:solidFill>
                  <a:schemeClr val="dk2"/>
                </a:solidFill>
              </a:rPr>
              <a:t>violations</a:t>
            </a:r>
            <a:endParaRPr b="1">
              <a:solidFill>
                <a:schemeClr val="dk2"/>
              </a:solidFill>
            </a:endParaRPr>
          </a:p>
          <a:p>
            <a:pPr indent="0" lvl="0" marL="0" rtl="0" algn="l">
              <a:lnSpc>
                <a:spcPct val="100000"/>
              </a:lnSpc>
              <a:spcBef>
                <a:spcPts val="0"/>
              </a:spcBef>
              <a:spcAft>
                <a:spcPts val="0"/>
              </a:spcAft>
              <a:buNone/>
            </a:pPr>
            <a:r>
              <a:t/>
            </a:r>
            <a:endParaRPr>
              <a:solidFill>
                <a:srgbClr val="E06666"/>
              </a:solidFill>
            </a:endParaRPr>
          </a:p>
        </p:txBody>
      </p:sp>
      <p:sp>
        <p:nvSpPr>
          <p:cNvPr id="104" name="Google Shape;104;p15"/>
          <p:cNvSpPr txBox="1"/>
          <p:nvPr/>
        </p:nvSpPr>
        <p:spPr>
          <a:xfrm>
            <a:off x="2502525" y="1477725"/>
            <a:ext cx="1851300" cy="11028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dk2"/>
                </a:solidFill>
              </a:rPr>
              <a:t>use case </a:t>
            </a:r>
            <a:r>
              <a:rPr lang="en-GB" u="sng">
                <a:solidFill>
                  <a:schemeClr val="dk2"/>
                </a:solidFill>
              </a:rPr>
              <a:t>1</a:t>
            </a:r>
            <a:r>
              <a:rPr lang="en-GB">
                <a:solidFill>
                  <a:schemeClr val="dk2"/>
                </a:solidFill>
              </a:rPr>
              <a:t> </a:t>
            </a:r>
            <a:br>
              <a:rPr lang="en-GB">
                <a:solidFill>
                  <a:schemeClr val="dk2"/>
                </a:solidFill>
              </a:rPr>
            </a:br>
            <a:r>
              <a:rPr b="1" lang="en-GB">
                <a:solidFill>
                  <a:schemeClr val="dk2"/>
                </a:solidFill>
              </a:rPr>
              <a:t>Coding idioms</a:t>
            </a:r>
            <a:r>
              <a:rPr lang="en-GB">
                <a:solidFill>
                  <a:schemeClr val="dk2"/>
                </a:solidFill>
              </a:rPr>
              <a:t> and programming </a:t>
            </a:r>
            <a:r>
              <a:rPr b="1" lang="en-GB">
                <a:solidFill>
                  <a:schemeClr val="dk2"/>
                </a:solidFill>
              </a:rPr>
              <a:t>conventions</a:t>
            </a:r>
            <a:endParaRPr b="1">
              <a:solidFill>
                <a:schemeClr val="dk2"/>
              </a:solidFill>
            </a:endParaRPr>
          </a:p>
          <a:p>
            <a:pPr indent="0" lvl="0" marL="0" rtl="0" algn="l">
              <a:spcBef>
                <a:spcPts val="0"/>
              </a:spcBef>
              <a:spcAft>
                <a:spcPts val="0"/>
              </a:spcAft>
              <a:buNone/>
            </a:pPr>
            <a:r>
              <a:t/>
            </a:r>
            <a:endParaRPr>
              <a:solidFill>
                <a:srgbClr val="E06666"/>
              </a:solidFill>
            </a:endParaRPr>
          </a:p>
        </p:txBody>
      </p:sp>
      <p:sp>
        <p:nvSpPr>
          <p:cNvPr id="105" name="Google Shape;105;p15"/>
          <p:cNvSpPr/>
          <p:nvPr/>
        </p:nvSpPr>
        <p:spPr>
          <a:xfrm>
            <a:off x="2502525" y="292287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a:off x="2502525" y="424652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a:off x="2502525" y="557017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a:off x="4617825" y="292287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a:off x="4617825" y="424652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a:off x="4617825" y="557017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a:off x="6733125" y="292287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6733125" y="424652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6733125" y="5570175"/>
            <a:ext cx="1851300" cy="1087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2502525" y="2919625"/>
            <a:ext cx="1851300" cy="1087800"/>
          </a:xfrm>
          <a:prstGeom prst="rect">
            <a:avLst/>
          </a:prstGeom>
          <a:solidFill>
            <a:srgbClr val="EFEFE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chemeClr val="dk2"/>
                </a:solidFill>
              </a:rPr>
              <a:t>Undiscovered syntactic patterns</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b="1" i="1" lang="en-GB" sz="1200">
                <a:solidFill>
                  <a:schemeClr val="dk2"/>
                </a:solidFill>
              </a:rPr>
              <a:t>Replace</a:t>
            </a:r>
            <a:r>
              <a:rPr i="1" lang="en-GB" sz="1200">
                <a:solidFill>
                  <a:schemeClr val="dk2"/>
                </a:solidFill>
              </a:rPr>
              <a:t> by macros or language built-ins</a:t>
            </a:r>
            <a:endParaRPr sz="1200"/>
          </a:p>
        </p:txBody>
      </p:sp>
      <p:sp>
        <p:nvSpPr>
          <p:cNvPr id="115" name="Google Shape;115;p15"/>
          <p:cNvSpPr/>
          <p:nvPr/>
        </p:nvSpPr>
        <p:spPr>
          <a:xfrm>
            <a:off x="2502525" y="4246525"/>
            <a:ext cx="1851300" cy="10878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chemeClr val="dk2"/>
                </a:solidFill>
              </a:rPr>
              <a:t>Code deviating from expected patterns</a:t>
            </a:r>
            <a:endParaRPr sz="1200">
              <a:solidFill>
                <a:schemeClr val="dk2"/>
              </a:solidFill>
            </a:endParaRPr>
          </a:p>
          <a:p>
            <a:pPr indent="0" lvl="0" marL="0" rtl="0" algn="l">
              <a:spcBef>
                <a:spcPts val="0"/>
              </a:spcBef>
              <a:spcAft>
                <a:spcPts val="0"/>
              </a:spcAft>
              <a:buClr>
                <a:schemeClr val="dk1"/>
              </a:buClr>
              <a:buSzPts val="1100"/>
              <a:buFont typeface="Arial"/>
              <a:buNone/>
            </a:pPr>
            <a:r>
              <a:t/>
            </a:r>
            <a:endParaRPr sz="1200">
              <a:solidFill>
                <a:schemeClr val="dk2"/>
              </a:solidFill>
            </a:endParaRPr>
          </a:p>
          <a:p>
            <a:pPr indent="0" lvl="0" marL="0" rtl="0" algn="l">
              <a:spcBef>
                <a:spcPts val="0"/>
              </a:spcBef>
              <a:spcAft>
                <a:spcPts val="0"/>
              </a:spcAft>
              <a:buNone/>
            </a:pPr>
            <a:r>
              <a:rPr b="1" i="1" lang="en-GB" sz="1200">
                <a:solidFill>
                  <a:schemeClr val="dk2"/>
                </a:solidFill>
              </a:rPr>
              <a:t>Rewrite</a:t>
            </a:r>
            <a:r>
              <a:rPr i="1" lang="en-GB" sz="1200">
                <a:solidFill>
                  <a:schemeClr val="dk2"/>
                </a:solidFill>
              </a:rPr>
              <a:t> to adhere to expected pattern</a:t>
            </a:r>
            <a:endParaRPr sz="1200"/>
          </a:p>
        </p:txBody>
      </p:sp>
      <p:sp>
        <p:nvSpPr>
          <p:cNvPr id="116" name="Google Shape;116;p15"/>
          <p:cNvSpPr/>
          <p:nvPr/>
        </p:nvSpPr>
        <p:spPr>
          <a:xfrm>
            <a:off x="4617825" y="2919625"/>
            <a:ext cx="1851300" cy="10878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chemeClr val="dk2"/>
                </a:solidFill>
              </a:rPr>
              <a:t>API, library, framework usage patterns</a:t>
            </a:r>
            <a:endParaRPr sz="1200">
              <a:solidFill>
                <a:schemeClr val="dk2"/>
              </a:solidFill>
            </a:endParaRPr>
          </a:p>
          <a:p>
            <a:pPr indent="0" lvl="0" marL="0" rtl="0" algn="l">
              <a:spcBef>
                <a:spcPts val="0"/>
              </a:spcBef>
              <a:spcAft>
                <a:spcPts val="0"/>
              </a:spcAft>
              <a:buNone/>
            </a:pPr>
            <a:r>
              <a:t/>
            </a:r>
            <a:endParaRPr b="1" i="1" sz="1200">
              <a:solidFill>
                <a:schemeClr val="dk2"/>
              </a:solidFill>
            </a:endParaRPr>
          </a:p>
          <a:p>
            <a:pPr indent="0" lvl="0" marL="0" rtl="0" algn="l">
              <a:spcBef>
                <a:spcPts val="0"/>
              </a:spcBef>
              <a:spcAft>
                <a:spcPts val="0"/>
              </a:spcAft>
              <a:buClr>
                <a:schemeClr val="dk1"/>
              </a:buClr>
              <a:buSzPts val="1100"/>
              <a:buFont typeface="Arial"/>
              <a:buNone/>
            </a:pPr>
            <a:r>
              <a:rPr b="1" i="1" lang="en-GB" sz="1200">
                <a:solidFill>
                  <a:schemeClr val="dk2"/>
                </a:solidFill>
              </a:rPr>
              <a:t>Refactor</a:t>
            </a:r>
            <a:r>
              <a:rPr i="1" lang="en-GB" sz="1200">
                <a:solidFill>
                  <a:schemeClr val="dk2"/>
                </a:solidFill>
              </a:rPr>
              <a:t> based on </a:t>
            </a:r>
            <a:r>
              <a:rPr b="1" i="1" lang="en-GB" sz="1200">
                <a:solidFill>
                  <a:schemeClr val="dk2"/>
                </a:solidFill>
              </a:rPr>
              <a:t>understanding</a:t>
            </a:r>
            <a:endParaRPr sz="1200">
              <a:solidFill>
                <a:schemeClr val="dk2"/>
              </a:solidFill>
            </a:endParaRPr>
          </a:p>
        </p:txBody>
      </p:sp>
      <p:sp>
        <p:nvSpPr>
          <p:cNvPr id="117" name="Google Shape;117;p15"/>
          <p:cNvSpPr/>
          <p:nvPr/>
        </p:nvSpPr>
        <p:spPr>
          <a:xfrm>
            <a:off x="4617825" y="4246525"/>
            <a:ext cx="1851300" cy="10878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chemeClr val="dk2"/>
                </a:solidFill>
              </a:rPr>
              <a:t>Violations of API and library usage patterns</a:t>
            </a:r>
            <a:endParaRPr sz="1200">
              <a:solidFill>
                <a:schemeClr val="dk2"/>
              </a:solidFill>
            </a:endParaRPr>
          </a:p>
          <a:p>
            <a:pPr indent="0" lvl="0" marL="0" rtl="0" algn="l">
              <a:spcBef>
                <a:spcPts val="1000"/>
              </a:spcBef>
              <a:spcAft>
                <a:spcPts val="0"/>
              </a:spcAft>
              <a:buNone/>
            </a:pPr>
            <a:r>
              <a:rPr b="1" i="1" lang="en-GB" sz="1200">
                <a:solidFill>
                  <a:schemeClr val="dk2"/>
                </a:solidFill>
              </a:rPr>
              <a:t>Correct</a:t>
            </a:r>
            <a:r>
              <a:rPr i="1" lang="en-GB" sz="1200">
                <a:solidFill>
                  <a:schemeClr val="dk2"/>
                </a:solidFill>
              </a:rPr>
              <a:t> violations to fix faulty code</a:t>
            </a:r>
            <a:endParaRPr sz="1200">
              <a:solidFill>
                <a:schemeClr val="dk2"/>
              </a:solidFill>
            </a:endParaRPr>
          </a:p>
        </p:txBody>
      </p:sp>
      <p:sp>
        <p:nvSpPr>
          <p:cNvPr id="118" name="Google Shape;118;p15"/>
          <p:cNvSpPr/>
          <p:nvPr/>
        </p:nvSpPr>
        <p:spPr>
          <a:xfrm>
            <a:off x="6733125" y="2919625"/>
            <a:ext cx="1851300" cy="10878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chemeClr val="dk2"/>
                </a:solidFill>
              </a:rPr>
              <a:t>Locations frequently subject to past edits</a:t>
            </a:r>
            <a:endParaRPr sz="1200">
              <a:solidFill>
                <a:schemeClr val="dk2"/>
              </a:solidFill>
            </a:endParaRPr>
          </a:p>
          <a:p>
            <a:pPr indent="0" lvl="0" marL="0" rtl="0" algn="l">
              <a:spcBef>
                <a:spcPts val="1000"/>
              </a:spcBef>
              <a:spcAft>
                <a:spcPts val="0"/>
              </a:spcAft>
              <a:buClr>
                <a:schemeClr val="dk1"/>
              </a:buClr>
              <a:buSzPts val="1100"/>
              <a:buFont typeface="Arial"/>
              <a:buNone/>
            </a:pPr>
            <a:r>
              <a:rPr b="1" i="1" lang="en-GB" sz="1200">
                <a:solidFill>
                  <a:schemeClr val="dk2"/>
                </a:solidFill>
              </a:rPr>
              <a:t>Refactor</a:t>
            </a:r>
            <a:r>
              <a:rPr i="1" lang="en-GB" sz="1200">
                <a:solidFill>
                  <a:schemeClr val="dk2"/>
                </a:solidFill>
              </a:rPr>
              <a:t> to avoid future changes there</a:t>
            </a:r>
            <a:endParaRPr sz="1200">
              <a:solidFill>
                <a:schemeClr val="dk2"/>
              </a:solidFill>
            </a:endParaRPr>
          </a:p>
        </p:txBody>
      </p:sp>
      <p:sp>
        <p:nvSpPr>
          <p:cNvPr id="119" name="Google Shape;119;p15"/>
          <p:cNvSpPr/>
          <p:nvPr/>
        </p:nvSpPr>
        <p:spPr>
          <a:xfrm>
            <a:off x="6733125" y="4246525"/>
            <a:ext cx="1851300" cy="10878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chemeClr val="dk2"/>
                </a:solidFill>
              </a:rPr>
              <a:t>Locations similar to but not included in past systematic edits</a:t>
            </a:r>
            <a:endParaRPr sz="1200">
              <a:solidFill>
                <a:schemeClr val="dk2"/>
              </a:solidFill>
            </a:endParaRPr>
          </a:p>
          <a:p>
            <a:pPr indent="0" lvl="0" marL="0" rtl="0" algn="l">
              <a:spcBef>
                <a:spcPts val="1000"/>
              </a:spcBef>
              <a:spcAft>
                <a:spcPts val="0"/>
              </a:spcAft>
              <a:buNone/>
            </a:pPr>
            <a:r>
              <a:rPr b="1" i="1" lang="en-GB" sz="1200">
                <a:solidFill>
                  <a:schemeClr val="dk2"/>
                </a:solidFill>
              </a:rPr>
              <a:t>Reapply</a:t>
            </a:r>
            <a:r>
              <a:rPr i="1" lang="en-GB" sz="1200">
                <a:solidFill>
                  <a:schemeClr val="dk2"/>
                </a:solidFill>
              </a:rPr>
              <a:t> systematic edits to these locations</a:t>
            </a:r>
            <a:endParaRPr sz="1200"/>
          </a:p>
        </p:txBody>
      </p:sp>
      <p:sp>
        <p:nvSpPr>
          <p:cNvPr id="120" name="Google Shape;120;p15"/>
          <p:cNvSpPr/>
          <p:nvPr/>
        </p:nvSpPr>
        <p:spPr>
          <a:xfrm>
            <a:off x="2502525" y="5570177"/>
            <a:ext cx="1851300" cy="10878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chemeClr val="dk2"/>
                </a:solidFill>
              </a:rPr>
              <a:t>Propose actions to im- prove respect of idioms</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b="1" i="1" lang="en-GB" sz="1200">
                <a:solidFill>
                  <a:schemeClr val="dk2"/>
                </a:solidFill>
              </a:rPr>
              <a:t>Suggest</a:t>
            </a:r>
            <a:r>
              <a:rPr i="1" lang="en-GB" sz="1200">
                <a:solidFill>
                  <a:schemeClr val="dk2"/>
                </a:solidFill>
              </a:rPr>
              <a:t> to complete or transform code </a:t>
            </a:r>
            <a:endParaRPr sz="1200"/>
          </a:p>
        </p:txBody>
      </p:sp>
      <p:sp>
        <p:nvSpPr>
          <p:cNvPr id="121" name="Google Shape;121;p15"/>
          <p:cNvSpPr/>
          <p:nvPr/>
        </p:nvSpPr>
        <p:spPr>
          <a:xfrm>
            <a:off x="4617825" y="5570177"/>
            <a:ext cx="1851300" cy="10878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chemeClr val="dk2"/>
                </a:solidFill>
              </a:rPr>
              <a:t>API, library, framework usage</a:t>
            </a:r>
            <a:endParaRPr sz="1200">
              <a:solidFill>
                <a:schemeClr val="dk2"/>
              </a:solidFill>
            </a:endParaRPr>
          </a:p>
          <a:p>
            <a:pPr indent="0" lvl="0" marL="0" rtl="0" algn="l">
              <a:spcBef>
                <a:spcPts val="1000"/>
              </a:spcBef>
              <a:spcAft>
                <a:spcPts val="0"/>
              </a:spcAft>
              <a:buNone/>
            </a:pPr>
            <a:r>
              <a:rPr b="1" i="1" lang="en-GB" sz="1200">
                <a:solidFill>
                  <a:schemeClr val="dk2"/>
                </a:solidFill>
              </a:rPr>
              <a:t>Suggest</a:t>
            </a:r>
            <a:r>
              <a:rPr i="1" lang="en-GB" sz="1200">
                <a:solidFill>
                  <a:schemeClr val="dk2"/>
                </a:solidFill>
              </a:rPr>
              <a:t> correct use of API according protocol</a:t>
            </a:r>
            <a:endParaRPr sz="1200"/>
          </a:p>
        </p:txBody>
      </p:sp>
      <p:sp>
        <p:nvSpPr>
          <p:cNvPr id="122" name="Google Shape;122;p15"/>
          <p:cNvSpPr/>
          <p:nvPr/>
        </p:nvSpPr>
        <p:spPr>
          <a:xfrm>
            <a:off x="6733114" y="5573427"/>
            <a:ext cx="1851300" cy="10878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chemeClr val="dk2"/>
                </a:solidFill>
              </a:rPr>
              <a:t>Frequently executed past edits</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b="1" i="1" lang="en-GB" sz="1200">
                <a:solidFill>
                  <a:schemeClr val="dk2"/>
                </a:solidFill>
              </a:rPr>
              <a:t>Suggest</a:t>
            </a:r>
            <a:r>
              <a:rPr i="1" lang="en-GB" sz="1200">
                <a:solidFill>
                  <a:schemeClr val="dk2"/>
                </a:solidFill>
              </a:rPr>
              <a:t> complete edit based on partial edit</a:t>
            </a:r>
            <a:endParaRPr sz="1200"/>
          </a:p>
        </p:txBody>
      </p:sp>
      <p:cxnSp>
        <p:nvCxnSpPr>
          <p:cNvPr id="123" name="Google Shape;123;p15"/>
          <p:cNvCxnSpPr>
            <a:stCxn id="114" idx="1"/>
            <a:endCxn id="114" idx="3"/>
          </p:cNvCxnSpPr>
          <p:nvPr/>
        </p:nvCxnSpPr>
        <p:spPr>
          <a:xfrm>
            <a:off x="2502525" y="3463525"/>
            <a:ext cx="1851300" cy="0"/>
          </a:xfrm>
          <a:prstGeom prst="straightConnector1">
            <a:avLst/>
          </a:prstGeom>
          <a:noFill/>
          <a:ln cap="flat" cmpd="sng" w="9525">
            <a:solidFill>
              <a:schemeClr val="dk2"/>
            </a:solidFill>
            <a:prstDash val="dot"/>
            <a:round/>
            <a:headEnd len="med" w="med" type="none"/>
            <a:tailEnd len="med" w="med" type="none"/>
          </a:ln>
        </p:spPr>
      </p:cxnSp>
      <p:cxnSp>
        <p:nvCxnSpPr>
          <p:cNvPr id="124" name="Google Shape;124;p15"/>
          <p:cNvCxnSpPr>
            <a:stCxn id="115" idx="1"/>
            <a:endCxn id="115" idx="3"/>
          </p:cNvCxnSpPr>
          <p:nvPr/>
        </p:nvCxnSpPr>
        <p:spPr>
          <a:xfrm>
            <a:off x="2502525" y="4790425"/>
            <a:ext cx="1851300" cy="0"/>
          </a:xfrm>
          <a:prstGeom prst="straightConnector1">
            <a:avLst/>
          </a:prstGeom>
          <a:noFill/>
          <a:ln cap="flat" cmpd="sng" w="9525">
            <a:solidFill>
              <a:schemeClr val="dk2"/>
            </a:solidFill>
            <a:prstDash val="dot"/>
            <a:round/>
            <a:headEnd len="med" w="med" type="none"/>
            <a:tailEnd len="med" w="med" type="none"/>
          </a:ln>
        </p:spPr>
      </p:cxnSp>
      <p:cxnSp>
        <p:nvCxnSpPr>
          <p:cNvPr id="125" name="Google Shape;125;p15"/>
          <p:cNvCxnSpPr>
            <a:stCxn id="120" idx="1"/>
            <a:endCxn id="120" idx="3"/>
          </p:cNvCxnSpPr>
          <p:nvPr/>
        </p:nvCxnSpPr>
        <p:spPr>
          <a:xfrm>
            <a:off x="2502525" y="6114077"/>
            <a:ext cx="1851300" cy="0"/>
          </a:xfrm>
          <a:prstGeom prst="straightConnector1">
            <a:avLst/>
          </a:prstGeom>
          <a:noFill/>
          <a:ln cap="flat" cmpd="sng" w="9525">
            <a:solidFill>
              <a:schemeClr val="dk2"/>
            </a:solidFill>
            <a:prstDash val="dot"/>
            <a:round/>
            <a:headEnd len="med" w="med" type="none"/>
            <a:tailEnd len="med" w="med" type="none"/>
          </a:ln>
        </p:spPr>
      </p:cxnSp>
      <p:cxnSp>
        <p:nvCxnSpPr>
          <p:cNvPr id="126" name="Google Shape;126;p15"/>
          <p:cNvCxnSpPr>
            <a:stCxn id="116" idx="1"/>
            <a:endCxn id="116" idx="3"/>
          </p:cNvCxnSpPr>
          <p:nvPr/>
        </p:nvCxnSpPr>
        <p:spPr>
          <a:xfrm>
            <a:off x="4617825" y="3463525"/>
            <a:ext cx="1851300" cy="0"/>
          </a:xfrm>
          <a:prstGeom prst="straightConnector1">
            <a:avLst/>
          </a:prstGeom>
          <a:noFill/>
          <a:ln cap="flat" cmpd="sng" w="9525">
            <a:solidFill>
              <a:schemeClr val="dk2"/>
            </a:solidFill>
            <a:prstDash val="dot"/>
            <a:round/>
            <a:headEnd len="med" w="med" type="none"/>
            <a:tailEnd len="med" w="med" type="none"/>
          </a:ln>
        </p:spPr>
      </p:cxnSp>
      <p:cxnSp>
        <p:nvCxnSpPr>
          <p:cNvPr id="127" name="Google Shape;127;p15"/>
          <p:cNvCxnSpPr>
            <a:stCxn id="117" idx="1"/>
            <a:endCxn id="117" idx="3"/>
          </p:cNvCxnSpPr>
          <p:nvPr/>
        </p:nvCxnSpPr>
        <p:spPr>
          <a:xfrm>
            <a:off x="4617825" y="4790425"/>
            <a:ext cx="1851300" cy="0"/>
          </a:xfrm>
          <a:prstGeom prst="straightConnector1">
            <a:avLst/>
          </a:prstGeom>
          <a:noFill/>
          <a:ln cap="flat" cmpd="sng" w="9525">
            <a:solidFill>
              <a:schemeClr val="dk2"/>
            </a:solidFill>
            <a:prstDash val="dot"/>
            <a:round/>
            <a:headEnd len="med" w="med" type="none"/>
            <a:tailEnd len="med" w="med" type="none"/>
          </a:ln>
        </p:spPr>
      </p:cxnSp>
      <p:cxnSp>
        <p:nvCxnSpPr>
          <p:cNvPr id="128" name="Google Shape;128;p15"/>
          <p:cNvCxnSpPr>
            <a:stCxn id="121" idx="1"/>
            <a:endCxn id="121" idx="3"/>
          </p:cNvCxnSpPr>
          <p:nvPr/>
        </p:nvCxnSpPr>
        <p:spPr>
          <a:xfrm>
            <a:off x="4617825" y="6114077"/>
            <a:ext cx="1851300" cy="0"/>
          </a:xfrm>
          <a:prstGeom prst="straightConnector1">
            <a:avLst/>
          </a:prstGeom>
          <a:noFill/>
          <a:ln cap="flat" cmpd="sng" w="9525">
            <a:solidFill>
              <a:schemeClr val="dk2"/>
            </a:solidFill>
            <a:prstDash val="dot"/>
            <a:round/>
            <a:headEnd len="med" w="med" type="none"/>
            <a:tailEnd len="med" w="med" type="none"/>
          </a:ln>
        </p:spPr>
      </p:cxnSp>
      <p:cxnSp>
        <p:nvCxnSpPr>
          <p:cNvPr id="129" name="Google Shape;129;p15"/>
          <p:cNvCxnSpPr>
            <a:stCxn id="122" idx="3"/>
            <a:endCxn id="122" idx="1"/>
          </p:cNvCxnSpPr>
          <p:nvPr/>
        </p:nvCxnSpPr>
        <p:spPr>
          <a:xfrm rot="10800000">
            <a:off x="6733114" y="6117327"/>
            <a:ext cx="1851300" cy="0"/>
          </a:xfrm>
          <a:prstGeom prst="straightConnector1">
            <a:avLst/>
          </a:prstGeom>
          <a:noFill/>
          <a:ln cap="flat" cmpd="sng" w="9525">
            <a:solidFill>
              <a:schemeClr val="dk2"/>
            </a:solidFill>
            <a:prstDash val="dot"/>
            <a:round/>
            <a:headEnd len="med" w="med" type="none"/>
            <a:tailEnd len="med" w="med" type="none"/>
          </a:ln>
        </p:spPr>
      </p:cxnSp>
      <p:cxnSp>
        <p:nvCxnSpPr>
          <p:cNvPr id="130" name="Google Shape;130;p15"/>
          <p:cNvCxnSpPr/>
          <p:nvPr/>
        </p:nvCxnSpPr>
        <p:spPr>
          <a:xfrm rot="10800000">
            <a:off x="6733125" y="4892968"/>
            <a:ext cx="1851300" cy="0"/>
          </a:xfrm>
          <a:prstGeom prst="straightConnector1">
            <a:avLst/>
          </a:prstGeom>
          <a:noFill/>
          <a:ln cap="flat" cmpd="sng" w="9525">
            <a:solidFill>
              <a:schemeClr val="dk2"/>
            </a:solidFill>
            <a:prstDash val="dot"/>
            <a:round/>
            <a:headEnd len="med" w="med" type="none"/>
            <a:tailEnd len="med" w="med" type="none"/>
          </a:ln>
        </p:spPr>
      </p:cxnSp>
      <p:cxnSp>
        <p:nvCxnSpPr>
          <p:cNvPr id="131" name="Google Shape;131;p15"/>
          <p:cNvCxnSpPr>
            <a:stCxn id="118" idx="3"/>
            <a:endCxn id="118" idx="1"/>
          </p:cNvCxnSpPr>
          <p:nvPr/>
        </p:nvCxnSpPr>
        <p:spPr>
          <a:xfrm rot="10800000">
            <a:off x="6733125" y="3463525"/>
            <a:ext cx="1851300" cy="0"/>
          </a:xfrm>
          <a:prstGeom prst="straightConnector1">
            <a:avLst/>
          </a:prstGeom>
          <a:noFill/>
          <a:ln cap="flat" cmpd="sng" w="9525">
            <a:solidFill>
              <a:schemeClr val="dk2"/>
            </a:solidFill>
            <a:prstDash val="dot"/>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5" name="Shape 135"/>
        <p:cNvGrpSpPr/>
        <p:nvPr/>
      </p:nvGrpSpPr>
      <p:grpSpPr>
        <a:xfrm>
          <a:off x="0" y="0"/>
          <a:ext cx="0" cy="0"/>
          <a:chOff x="0" y="0"/>
          <a:chExt cx="0" cy="0"/>
        </a:xfrm>
      </p:grpSpPr>
      <p:sp>
        <p:nvSpPr>
          <p:cNvPr id="136" name="Google Shape;136;p16"/>
          <p:cNvSpPr txBox="1"/>
          <p:nvPr>
            <p:ph type="title"/>
          </p:nvPr>
        </p:nvSpPr>
        <p:spPr>
          <a:xfrm>
            <a:off x="311700" y="6139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4A86E8"/>
                </a:solidFill>
                <a:latin typeface="Syncopate"/>
                <a:ea typeface="Syncopate"/>
                <a:cs typeface="Syncopate"/>
                <a:sym typeface="Syncopate"/>
              </a:rPr>
              <a:t>APPROACH</a:t>
            </a:r>
            <a:endParaRPr b="1">
              <a:solidFill>
                <a:srgbClr val="4A86E8"/>
              </a:solidFill>
              <a:latin typeface="Syncopate"/>
              <a:ea typeface="Syncopate"/>
              <a:cs typeface="Syncopate"/>
              <a:sym typeface="Syncopate"/>
            </a:endParaRPr>
          </a:p>
        </p:txBody>
      </p:sp>
      <p:sp>
        <p:nvSpPr>
          <p:cNvPr id="137" name="Google Shape;137;p16"/>
          <p:cNvSpPr txBox="1"/>
          <p:nvPr/>
        </p:nvSpPr>
        <p:spPr>
          <a:xfrm>
            <a:off x="4714575" y="2912700"/>
            <a:ext cx="2328300" cy="53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rgbClr val="4A86E8"/>
                </a:solidFill>
                <a:latin typeface="Syncopate"/>
                <a:ea typeface="Syncopate"/>
                <a:cs typeface="Syncopate"/>
                <a:sym typeface="Syncopate"/>
              </a:rPr>
              <a:t>Modernisation</a:t>
            </a:r>
            <a:br>
              <a:rPr b="1" lang="en-GB">
                <a:solidFill>
                  <a:srgbClr val="4A86E8"/>
                </a:solidFill>
                <a:latin typeface="Syncopate"/>
                <a:ea typeface="Syncopate"/>
                <a:cs typeface="Syncopate"/>
                <a:sym typeface="Syncopate"/>
              </a:rPr>
            </a:br>
            <a:r>
              <a:rPr b="1" lang="en-GB">
                <a:solidFill>
                  <a:srgbClr val="4A86E8"/>
                </a:solidFill>
                <a:latin typeface="Syncopate"/>
                <a:ea typeface="Syncopate"/>
                <a:cs typeface="Syncopate"/>
                <a:sym typeface="Syncopate"/>
              </a:rPr>
              <a:t>Assistant</a:t>
            </a:r>
            <a:endParaRPr b="1">
              <a:solidFill>
                <a:srgbClr val="4A86E8"/>
              </a:solidFill>
              <a:latin typeface="Syncopate"/>
              <a:ea typeface="Syncopate"/>
              <a:cs typeface="Syncopate"/>
              <a:sym typeface="Syncopate"/>
            </a:endParaRPr>
          </a:p>
        </p:txBody>
      </p:sp>
      <p:sp>
        <p:nvSpPr>
          <p:cNvPr id="138" name="Google Shape;138;p16"/>
          <p:cNvSpPr/>
          <p:nvPr/>
        </p:nvSpPr>
        <p:spPr>
          <a:xfrm rot="5400000">
            <a:off x="2854176" y="2442611"/>
            <a:ext cx="1012500" cy="1335300"/>
          </a:xfrm>
          <a:prstGeom prst="bentArrow">
            <a:avLst>
              <a:gd fmla="val 25000" name="adj1"/>
              <a:gd fmla="val 25000" name="adj2"/>
              <a:gd fmla="val 25000" name="adj3"/>
              <a:gd fmla="val 43750" name="adj4"/>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zoom-256.gif" id="139" name="Google Shape;139;p16"/>
          <p:cNvPicPr preferRelativeResize="0"/>
          <p:nvPr/>
        </p:nvPicPr>
        <p:blipFill>
          <a:blip r:embed="rId3">
            <a:alphaModFix/>
          </a:blip>
          <a:stretch>
            <a:fillRect/>
          </a:stretch>
        </p:blipFill>
        <p:spPr>
          <a:xfrm flipH="1">
            <a:off x="5155873" y="1285475"/>
            <a:ext cx="1525350" cy="1525350"/>
          </a:xfrm>
          <a:prstGeom prst="rect">
            <a:avLst/>
          </a:prstGeom>
          <a:noFill/>
          <a:ln>
            <a:noFill/>
          </a:ln>
        </p:spPr>
      </p:pic>
      <p:grpSp>
        <p:nvGrpSpPr>
          <p:cNvPr id="140" name="Google Shape;140;p16"/>
          <p:cNvGrpSpPr/>
          <p:nvPr/>
        </p:nvGrpSpPr>
        <p:grpSpPr>
          <a:xfrm>
            <a:off x="3702737" y="5611636"/>
            <a:ext cx="4885788" cy="1103364"/>
            <a:chOff x="3511487" y="5611636"/>
            <a:chExt cx="4885788" cy="1103364"/>
          </a:xfrm>
        </p:grpSpPr>
        <p:sp>
          <p:nvSpPr>
            <p:cNvPr id="141" name="Google Shape;141;p16"/>
            <p:cNvSpPr/>
            <p:nvPr/>
          </p:nvSpPr>
          <p:spPr>
            <a:xfrm rot="-5400000">
              <a:off x="3672887" y="5450236"/>
              <a:ext cx="1012500" cy="1335300"/>
            </a:xfrm>
            <a:prstGeom prst="bentArrow">
              <a:avLst>
                <a:gd fmla="val 25000" name="adj1"/>
                <a:gd fmla="val 25000" name="adj2"/>
                <a:gd fmla="val 25000" name="adj3"/>
                <a:gd fmla="val 43750" name="adj4"/>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6"/>
            <p:cNvSpPr txBox="1"/>
            <p:nvPr/>
          </p:nvSpPr>
          <p:spPr>
            <a:xfrm>
              <a:off x="4402525" y="5807030"/>
              <a:ext cx="2157600" cy="87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GB">
                  <a:latin typeface="Syncopate"/>
                  <a:ea typeface="Syncopate"/>
                  <a:cs typeface="Syncopate"/>
                  <a:sym typeface="Syncopate"/>
                </a:rPr>
                <a:t>Importers</a:t>
              </a:r>
              <a:endParaRPr b="1">
                <a:latin typeface="Syncopate"/>
                <a:ea typeface="Syncopate"/>
                <a:cs typeface="Syncopate"/>
                <a:sym typeface="Syncopate"/>
              </a:endParaRPr>
            </a:p>
          </p:txBody>
        </p:sp>
        <p:sp>
          <p:nvSpPr>
            <p:cNvPr id="143" name="Google Shape;143;p16"/>
            <p:cNvSpPr txBox="1"/>
            <p:nvPr/>
          </p:nvSpPr>
          <p:spPr>
            <a:xfrm>
              <a:off x="4846775" y="6181000"/>
              <a:ext cx="3550500" cy="534000"/>
            </a:xfrm>
            <a:prstGeom prst="rect">
              <a:avLst/>
            </a:prstGeom>
            <a:noFill/>
            <a:ln>
              <a:noFill/>
            </a:ln>
          </p:spPr>
          <p:txBody>
            <a:bodyPr anchorCtr="0" anchor="ctr"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GB">
                  <a:solidFill>
                    <a:schemeClr val="dk1"/>
                  </a:solidFill>
                </a:rPr>
                <a:t>open-source software	(academic) </a:t>
              </a:r>
              <a:endParaRPr>
                <a:solidFill>
                  <a:schemeClr val="dk1"/>
                </a:solidFill>
              </a:endParaRPr>
            </a:p>
            <a:p>
              <a:pPr indent="-317500" lvl="0" marL="457200" rtl="0" algn="l">
                <a:spcBef>
                  <a:spcPts val="0"/>
                </a:spcBef>
                <a:spcAft>
                  <a:spcPts val="0"/>
                </a:spcAft>
                <a:buClr>
                  <a:schemeClr val="dk1"/>
                </a:buClr>
                <a:buSzPts val="1400"/>
                <a:buChar char="-"/>
              </a:pPr>
              <a:r>
                <a:rPr lang="en-GB">
                  <a:solidFill>
                    <a:schemeClr val="dk1"/>
                  </a:solidFill>
                </a:rPr>
                <a:t>legacy software		 (industrial)</a:t>
              </a:r>
              <a:endParaRPr/>
            </a:p>
          </p:txBody>
        </p:sp>
      </p:grpSp>
      <p:sp>
        <p:nvSpPr>
          <p:cNvPr id="144" name="Google Shape;144;p16"/>
          <p:cNvSpPr txBox="1"/>
          <p:nvPr/>
        </p:nvSpPr>
        <p:spPr>
          <a:xfrm>
            <a:off x="5859800" y="3588425"/>
            <a:ext cx="3305400" cy="76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GB">
                <a:solidFill>
                  <a:schemeClr val="dk1"/>
                </a:solidFill>
              </a:rPr>
              <a:t>browser for patterns and instances </a:t>
            </a:r>
            <a:endParaRPr i="1">
              <a:solidFill>
                <a:schemeClr val="dk1"/>
              </a:solidFill>
            </a:endParaRPr>
          </a:p>
          <a:p>
            <a:pPr indent="0" lvl="0" marL="0" rtl="0" algn="ctr">
              <a:spcBef>
                <a:spcPts val="0"/>
              </a:spcBef>
              <a:spcAft>
                <a:spcPts val="0"/>
              </a:spcAft>
              <a:buNone/>
            </a:pPr>
            <a:r>
              <a:rPr i="1" lang="en-GB">
                <a:solidFill>
                  <a:schemeClr val="dk1"/>
                </a:solidFill>
              </a:rPr>
              <a:t>on-demand partial pattern matching</a:t>
            </a:r>
            <a:endParaRPr i="1"/>
          </a:p>
          <a:p>
            <a:pPr indent="0" lvl="0" marL="0" rtl="0" algn="ctr">
              <a:spcBef>
                <a:spcPts val="0"/>
              </a:spcBef>
              <a:spcAft>
                <a:spcPts val="0"/>
              </a:spcAft>
              <a:buNone/>
            </a:pPr>
            <a:r>
              <a:rPr i="1" lang="en-GB"/>
              <a:t>pro-active recommendations</a:t>
            </a:r>
            <a:br>
              <a:rPr i="1" lang="en-GB"/>
            </a:br>
            <a:endParaRPr i="1"/>
          </a:p>
        </p:txBody>
      </p:sp>
      <p:sp>
        <p:nvSpPr>
          <p:cNvPr id="145" name="Google Shape;145;p16"/>
          <p:cNvSpPr/>
          <p:nvPr/>
        </p:nvSpPr>
        <p:spPr>
          <a:xfrm rot="-5400000">
            <a:off x="1841337" y="3427036"/>
            <a:ext cx="1012500" cy="1335300"/>
          </a:xfrm>
          <a:prstGeom prst="bentArrow">
            <a:avLst>
              <a:gd fmla="val 25000" name="adj1"/>
              <a:gd fmla="val 25000" name="adj2"/>
              <a:gd fmla="val 25000" name="adj3"/>
              <a:gd fmla="val 43750" name="adj4"/>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p:nvPr/>
        </p:nvSpPr>
        <p:spPr>
          <a:xfrm>
            <a:off x="4320950" y="2281211"/>
            <a:ext cx="1012500" cy="1335300"/>
          </a:xfrm>
          <a:prstGeom prst="bentArrow">
            <a:avLst>
              <a:gd fmla="val 25000" name="adj1"/>
              <a:gd fmla="val 25000" name="adj2"/>
              <a:gd fmla="val 25000" name="adj3"/>
              <a:gd fmla="val 43750" name="adj4"/>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6"/>
          <p:cNvSpPr/>
          <p:nvPr/>
        </p:nvSpPr>
        <p:spPr>
          <a:xfrm rot="5400000">
            <a:off x="7006262" y="2281211"/>
            <a:ext cx="1012500" cy="1335300"/>
          </a:xfrm>
          <a:prstGeom prst="bentArrow">
            <a:avLst>
              <a:gd fmla="val 25000" name="adj1"/>
              <a:gd fmla="val 25000" name="adj2"/>
              <a:gd fmla="val 25000" name="adj3"/>
              <a:gd fmla="val 43750" name="adj4"/>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 name="Google Shape;148;p16"/>
          <p:cNvGrpSpPr/>
          <p:nvPr/>
        </p:nvGrpSpPr>
        <p:grpSpPr>
          <a:xfrm>
            <a:off x="2964185" y="3787500"/>
            <a:ext cx="3012600" cy="1956775"/>
            <a:chOff x="2735585" y="3787500"/>
            <a:chExt cx="3012600" cy="1956775"/>
          </a:xfrm>
        </p:grpSpPr>
        <p:grpSp>
          <p:nvGrpSpPr>
            <p:cNvPr id="149" name="Google Shape;149;p16"/>
            <p:cNvGrpSpPr/>
            <p:nvPr/>
          </p:nvGrpSpPr>
          <p:grpSpPr>
            <a:xfrm>
              <a:off x="2891782" y="3787500"/>
              <a:ext cx="1505050" cy="1454434"/>
              <a:chOff x="3666500" y="3482700"/>
              <a:chExt cx="1505050" cy="1454434"/>
            </a:xfrm>
          </p:grpSpPr>
          <p:pic>
            <p:nvPicPr>
              <p:cNvPr descr="172190_database_512x512.png" id="150" name="Google Shape;150;p16"/>
              <p:cNvPicPr preferRelativeResize="0"/>
              <p:nvPr/>
            </p:nvPicPr>
            <p:blipFill>
              <a:blip r:embed="rId4">
                <a:alphaModFix/>
              </a:blip>
              <a:stretch>
                <a:fillRect/>
              </a:stretch>
            </p:blipFill>
            <p:spPr>
              <a:xfrm>
                <a:off x="4020650" y="3482700"/>
                <a:ext cx="1150900" cy="1150900"/>
              </a:xfrm>
              <a:prstGeom prst="rect">
                <a:avLst/>
              </a:prstGeom>
              <a:noFill/>
              <a:ln>
                <a:noFill/>
              </a:ln>
            </p:spPr>
          </p:pic>
          <p:pic>
            <p:nvPicPr>
              <p:cNvPr descr="172190_database_512x512.png" id="151" name="Google Shape;151;p16"/>
              <p:cNvPicPr preferRelativeResize="0"/>
              <p:nvPr/>
            </p:nvPicPr>
            <p:blipFill>
              <a:blip r:embed="rId4">
                <a:alphaModFix/>
              </a:blip>
              <a:stretch>
                <a:fillRect/>
              </a:stretch>
            </p:blipFill>
            <p:spPr>
              <a:xfrm>
                <a:off x="3666500" y="3786233"/>
                <a:ext cx="1150900" cy="1150900"/>
              </a:xfrm>
              <a:prstGeom prst="rect">
                <a:avLst/>
              </a:prstGeom>
              <a:noFill/>
              <a:ln>
                <a:noFill/>
              </a:ln>
            </p:spPr>
          </p:pic>
        </p:grpSp>
        <p:sp>
          <p:nvSpPr>
            <p:cNvPr id="152" name="Google Shape;152;p16"/>
            <p:cNvSpPr txBox="1"/>
            <p:nvPr/>
          </p:nvSpPr>
          <p:spPr>
            <a:xfrm>
              <a:off x="2735585" y="5139775"/>
              <a:ext cx="3012600" cy="60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4A86E8"/>
                  </a:solidFill>
                  <a:latin typeface="Syncopate"/>
                  <a:ea typeface="Syncopate"/>
                  <a:cs typeface="Syncopate"/>
                  <a:sym typeface="Syncopate"/>
                </a:rPr>
                <a:t>DATA + </a:t>
              </a:r>
              <a:r>
                <a:rPr b="1" lang="en-GB">
                  <a:solidFill>
                    <a:srgbClr val="4A86E8"/>
                  </a:solidFill>
                  <a:latin typeface="Syncopate"/>
                  <a:ea typeface="Syncopate"/>
                  <a:cs typeface="Syncopate"/>
                  <a:sym typeface="Syncopate"/>
                </a:rPr>
                <a:t>metamodel</a:t>
              </a:r>
              <a:endParaRPr b="1">
                <a:solidFill>
                  <a:srgbClr val="4A86E8"/>
                </a:solidFill>
                <a:latin typeface="Syncopate"/>
                <a:ea typeface="Syncopate"/>
                <a:cs typeface="Syncopate"/>
                <a:sym typeface="Syncopate"/>
              </a:endParaRPr>
            </a:p>
          </p:txBody>
        </p:sp>
        <p:sp>
          <p:nvSpPr>
            <p:cNvPr id="153" name="Google Shape;153;p16"/>
            <p:cNvSpPr/>
            <p:nvPr/>
          </p:nvSpPr>
          <p:spPr>
            <a:xfrm>
              <a:off x="3939375" y="4664075"/>
              <a:ext cx="1012500" cy="604500"/>
            </a:xfrm>
            <a:prstGeom prst="rect">
              <a:avLst/>
            </a:prstGeom>
            <a:gradFill>
              <a:gsLst>
                <a:gs pos="0">
                  <a:srgbClr val="FFF6DB"/>
                </a:gs>
                <a:gs pos="100000">
                  <a:srgbClr val="FAD25C"/>
                </a:gs>
              </a:gsLst>
              <a:path path="circle">
                <a:fillToRect b="50%" l="50%" r="50%" t="50%"/>
              </a:path>
              <a:tileRect/>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WP1</a:t>
              </a:r>
              <a:endParaRPr/>
            </a:p>
          </p:txBody>
        </p:sp>
      </p:grpSp>
      <p:grpSp>
        <p:nvGrpSpPr>
          <p:cNvPr id="154" name="Google Shape;154;p16"/>
          <p:cNvGrpSpPr/>
          <p:nvPr/>
        </p:nvGrpSpPr>
        <p:grpSpPr>
          <a:xfrm>
            <a:off x="241875" y="1431775"/>
            <a:ext cx="4049900" cy="2355725"/>
            <a:chOff x="241875" y="1431775"/>
            <a:chExt cx="4049900" cy="2355725"/>
          </a:xfrm>
        </p:grpSpPr>
        <p:sp>
          <p:nvSpPr>
            <p:cNvPr id="155" name="Google Shape;155;p16"/>
            <p:cNvSpPr txBox="1"/>
            <p:nvPr/>
          </p:nvSpPr>
          <p:spPr>
            <a:xfrm>
              <a:off x="2134175" y="1745363"/>
              <a:ext cx="2157600" cy="46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t>previously unknown</a:t>
              </a:r>
              <a:br>
                <a:rPr i="1" lang="en-GB"/>
              </a:br>
              <a:r>
                <a:rPr i="1" lang="en-GB"/>
                <a:t>software patterns</a:t>
              </a:r>
              <a:endParaRPr i="1"/>
            </a:p>
          </p:txBody>
        </p:sp>
        <p:sp>
          <p:nvSpPr>
            <p:cNvPr id="156" name="Google Shape;156;p16"/>
            <p:cNvSpPr txBox="1"/>
            <p:nvPr/>
          </p:nvSpPr>
          <p:spPr>
            <a:xfrm>
              <a:off x="241875" y="2912700"/>
              <a:ext cx="2450700" cy="87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rgbClr val="4A86E8"/>
                  </a:solidFill>
                  <a:latin typeface="Syncopate"/>
                  <a:ea typeface="Syncopate"/>
                  <a:cs typeface="Syncopate"/>
                  <a:sym typeface="Syncopate"/>
                </a:rPr>
                <a:t>Pattern mining algorithms</a:t>
              </a:r>
              <a:endParaRPr b="1">
                <a:solidFill>
                  <a:srgbClr val="4A86E8"/>
                </a:solidFill>
                <a:latin typeface="Syncopate"/>
                <a:ea typeface="Syncopate"/>
                <a:cs typeface="Syncopate"/>
                <a:sym typeface="Syncopate"/>
              </a:endParaRPr>
            </a:p>
          </p:txBody>
        </p:sp>
        <p:pic>
          <p:nvPicPr>
            <p:cNvPr descr="714px-Noun_project_528.svg.png" id="157" name="Google Shape;157;p16"/>
            <p:cNvPicPr preferRelativeResize="0"/>
            <p:nvPr/>
          </p:nvPicPr>
          <p:blipFill>
            <a:blip r:embed="rId5">
              <a:alphaModFix/>
            </a:blip>
            <a:stretch>
              <a:fillRect/>
            </a:stretch>
          </p:blipFill>
          <p:spPr>
            <a:xfrm>
              <a:off x="737913" y="1431775"/>
              <a:ext cx="1446625" cy="1556051"/>
            </a:xfrm>
            <a:prstGeom prst="rect">
              <a:avLst/>
            </a:prstGeom>
            <a:noFill/>
            <a:ln>
              <a:noFill/>
            </a:ln>
          </p:spPr>
        </p:pic>
        <p:sp>
          <p:nvSpPr>
            <p:cNvPr id="158" name="Google Shape;158;p16"/>
            <p:cNvSpPr/>
            <p:nvPr/>
          </p:nvSpPr>
          <p:spPr>
            <a:xfrm>
              <a:off x="336475" y="1676075"/>
              <a:ext cx="1012500" cy="604500"/>
            </a:xfrm>
            <a:prstGeom prst="rect">
              <a:avLst/>
            </a:prstGeom>
            <a:gradFill>
              <a:gsLst>
                <a:gs pos="0">
                  <a:srgbClr val="FDECDB"/>
                </a:gs>
                <a:gs pos="100000">
                  <a:srgbClr val="F0A963"/>
                </a:gs>
              </a:gsLst>
              <a:path path="circle">
                <a:fillToRect b="50%" l="50%" r="50%" t="50%"/>
              </a:path>
              <a:tileRect/>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WP2</a:t>
              </a:r>
              <a:endParaRPr/>
            </a:p>
          </p:txBody>
        </p:sp>
      </p:grpSp>
      <p:sp>
        <p:nvSpPr>
          <p:cNvPr id="159" name="Google Shape;159;p16"/>
          <p:cNvSpPr/>
          <p:nvPr/>
        </p:nvSpPr>
        <p:spPr>
          <a:xfrm>
            <a:off x="6266750" y="1371900"/>
            <a:ext cx="1012500" cy="604500"/>
          </a:xfrm>
          <a:prstGeom prst="rect">
            <a:avLst/>
          </a:prstGeom>
          <a:gradFill>
            <a:gsLst>
              <a:gs pos="0">
                <a:srgbClr val="F5D0D0"/>
              </a:gs>
              <a:gs pos="100000">
                <a:srgbClr val="D96868"/>
              </a:gs>
            </a:gsLst>
            <a:path path="circle">
              <a:fillToRect b="50%" l="50%" r="50%" t="50%"/>
            </a:path>
            <a:tileRect/>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WP3</a:t>
            </a:r>
            <a:endParaRPr/>
          </a:p>
        </p:txBody>
      </p:sp>
      <p:sp>
        <p:nvSpPr>
          <p:cNvPr id="160" name="Google Shape;160;p16"/>
          <p:cNvSpPr/>
          <p:nvPr/>
        </p:nvSpPr>
        <p:spPr>
          <a:xfrm>
            <a:off x="814413" y="5962124"/>
            <a:ext cx="1012500" cy="604500"/>
          </a:xfrm>
          <a:prstGeom prst="rect">
            <a:avLst/>
          </a:prstGeom>
          <a:gradFill>
            <a:gsLst>
              <a:gs pos="0">
                <a:srgbClr val="FFFFFF"/>
              </a:gs>
              <a:gs pos="100000">
                <a:srgbClr val="B3B3B3"/>
              </a:gs>
            </a:gsLst>
            <a:path path="circle">
              <a:fillToRect b="50%" l="50%" r="50%" t="50%"/>
            </a:path>
            <a:tileRect/>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WP0</a:t>
            </a:r>
            <a:endParaRPr/>
          </a:p>
        </p:txBody>
      </p:sp>
      <p:sp>
        <p:nvSpPr>
          <p:cNvPr id="161" name="Google Shape;161;p16"/>
          <p:cNvSpPr txBox="1"/>
          <p:nvPr/>
        </p:nvSpPr>
        <p:spPr>
          <a:xfrm>
            <a:off x="241875" y="5611630"/>
            <a:ext cx="2157600" cy="87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GB">
                <a:solidFill>
                  <a:srgbClr val="4A86E8"/>
                </a:solidFill>
                <a:latin typeface="Syncopate"/>
                <a:ea typeface="Syncopate"/>
                <a:cs typeface="Syncopate"/>
                <a:sym typeface="Syncopate"/>
              </a:rPr>
              <a:t>Evaluation</a:t>
            </a:r>
            <a:endParaRPr b="1">
              <a:solidFill>
                <a:srgbClr val="4A86E8"/>
              </a:solidFill>
              <a:latin typeface="Syncopate"/>
              <a:ea typeface="Syncopate"/>
              <a:cs typeface="Syncopate"/>
              <a:sym typeface="Syncopat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5" name="Shape 165"/>
        <p:cNvGrpSpPr/>
        <p:nvPr/>
      </p:nvGrpSpPr>
      <p:grpSpPr>
        <a:xfrm>
          <a:off x="0" y="0"/>
          <a:ext cx="0" cy="0"/>
          <a:chOff x="0" y="0"/>
          <a:chExt cx="0" cy="0"/>
        </a:xfrm>
      </p:grpSpPr>
      <p:pic>
        <p:nvPicPr>
          <p:cNvPr id="166" name="Google Shape;166;p17"/>
          <p:cNvPicPr preferRelativeResize="0"/>
          <p:nvPr/>
        </p:nvPicPr>
        <p:blipFill>
          <a:blip r:embed="rId3">
            <a:alphaModFix/>
          </a:blip>
          <a:stretch>
            <a:fillRect/>
          </a:stretch>
        </p:blipFill>
        <p:spPr>
          <a:xfrm>
            <a:off x="294225" y="5769900"/>
            <a:ext cx="1054859" cy="604500"/>
          </a:xfrm>
          <a:prstGeom prst="rect">
            <a:avLst/>
          </a:prstGeom>
          <a:noFill/>
          <a:ln>
            <a:noFill/>
          </a:ln>
        </p:spPr>
      </p:pic>
      <p:sp>
        <p:nvSpPr>
          <p:cNvPr id="167" name="Google Shape;167;p17"/>
          <p:cNvSpPr txBox="1"/>
          <p:nvPr>
            <p:ph type="title"/>
          </p:nvPr>
        </p:nvSpPr>
        <p:spPr>
          <a:xfrm>
            <a:off x="311700" y="6139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4A86E8"/>
                </a:solidFill>
                <a:latin typeface="Syncopate"/>
                <a:ea typeface="Syncopate"/>
                <a:cs typeface="Syncopate"/>
                <a:sym typeface="Syncopate"/>
              </a:rPr>
              <a:t>WOrk packages</a:t>
            </a:r>
            <a:endParaRPr b="1">
              <a:solidFill>
                <a:srgbClr val="4A86E8"/>
              </a:solidFill>
              <a:latin typeface="Syncopate"/>
              <a:ea typeface="Syncopate"/>
              <a:cs typeface="Syncopate"/>
              <a:sym typeface="Syncopate"/>
            </a:endParaRPr>
          </a:p>
        </p:txBody>
      </p:sp>
      <p:sp>
        <p:nvSpPr>
          <p:cNvPr id="168" name="Google Shape;168;p17"/>
          <p:cNvSpPr/>
          <p:nvPr/>
        </p:nvSpPr>
        <p:spPr>
          <a:xfrm>
            <a:off x="315388" y="3144975"/>
            <a:ext cx="1012500" cy="604500"/>
          </a:xfrm>
          <a:prstGeom prst="rect">
            <a:avLst/>
          </a:prstGeom>
          <a:gradFill>
            <a:gsLst>
              <a:gs pos="0">
                <a:srgbClr val="FFF6DB"/>
              </a:gs>
              <a:gs pos="100000">
                <a:srgbClr val="FAD25C"/>
              </a:gs>
            </a:gsLst>
            <a:path path="circle">
              <a:fillToRect b="50%" l="50%" r="50%" t="50%"/>
            </a:path>
            <a:tileRect/>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WP1</a:t>
            </a:r>
            <a:endParaRPr/>
          </a:p>
        </p:txBody>
      </p:sp>
      <p:sp>
        <p:nvSpPr>
          <p:cNvPr id="169" name="Google Shape;169;p17"/>
          <p:cNvSpPr/>
          <p:nvPr/>
        </p:nvSpPr>
        <p:spPr>
          <a:xfrm>
            <a:off x="315388" y="4019939"/>
            <a:ext cx="1012500" cy="604500"/>
          </a:xfrm>
          <a:prstGeom prst="rect">
            <a:avLst/>
          </a:prstGeom>
          <a:gradFill>
            <a:gsLst>
              <a:gs pos="0">
                <a:srgbClr val="FDECDB"/>
              </a:gs>
              <a:gs pos="100000">
                <a:srgbClr val="F0A963"/>
              </a:gs>
            </a:gsLst>
            <a:path path="circle">
              <a:fillToRect b="50%" l="50%" r="50%" t="50%"/>
            </a:path>
            <a:tileRect/>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WP2</a:t>
            </a:r>
            <a:endParaRPr/>
          </a:p>
        </p:txBody>
      </p:sp>
      <p:sp>
        <p:nvSpPr>
          <p:cNvPr id="170" name="Google Shape;170;p17"/>
          <p:cNvSpPr/>
          <p:nvPr/>
        </p:nvSpPr>
        <p:spPr>
          <a:xfrm>
            <a:off x="315388" y="4894925"/>
            <a:ext cx="1012500" cy="604500"/>
          </a:xfrm>
          <a:prstGeom prst="rect">
            <a:avLst/>
          </a:prstGeom>
          <a:gradFill>
            <a:gsLst>
              <a:gs pos="0">
                <a:srgbClr val="F5D0D0"/>
              </a:gs>
              <a:gs pos="100000">
                <a:srgbClr val="D96868"/>
              </a:gs>
            </a:gsLst>
            <a:path path="circle">
              <a:fillToRect b="50%" l="50%" r="50%" t="50%"/>
            </a:path>
            <a:tileRect/>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WP3</a:t>
            </a:r>
            <a:endParaRPr/>
          </a:p>
        </p:txBody>
      </p:sp>
      <p:sp>
        <p:nvSpPr>
          <p:cNvPr id="171" name="Google Shape;171;p17"/>
          <p:cNvSpPr/>
          <p:nvPr/>
        </p:nvSpPr>
        <p:spPr>
          <a:xfrm>
            <a:off x="315388" y="2269999"/>
            <a:ext cx="1012500" cy="604500"/>
          </a:xfrm>
          <a:prstGeom prst="rect">
            <a:avLst/>
          </a:prstGeom>
          <a:gradFill>
            <a:gsLst>
              <a:gs pos="0">
                <a:srgbClr val="FFFFFF"/>
              </a:gs>
              <a:gs pos="100000">
                <a:srgbClr val="B3B3B3"/>
              </a:gs>
            </a:gsLst>
            <a:path path="circle">
              <a:fillToRect b="50%" l="50%" r="50%" t="50%"/>
            </a:path>
            <a:tileRect/>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WP0</a:t>
            </a:r>
            <a:endParaRPr/>
          </a:p>
        </p:txBody>
      </p:sp>
      <p:sp>
        <p:nvSpPr>
          <p:cNvPr id="172" name="Google Shape;172;p17"/>
          <p:cNvSpPr txBox="1"/>
          <p:nvPr/>
        </p:nvSpPr>
        <p:spPr>
          <a:xfrm>
            <a:off x="1485038" y="2270000"/>
            <a:ext cx="73362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Evaluation</a:t>
            </a:r>
            <a:r>
              <a:rPr lang="en-GB"/>
              <a:t> of developed system on </a:t>
            </a:r>
            <a:br>
              <a:rPr lang="en-GB"/>
            </a:br>
            <a:r>
              <a:rPr lang="en-GB"/>
              <a:t>legacy systems </a:t>
            </a:r>
            <a:r>
              <a:rPr b="1" lang="en-GB"/>
              <a:t>(RL)</a:t>
            </a:r>
            <a:endParaRPr b="1"/>
          </a:p>
        </p:txBody>
      </p:sp>
      <p:sp>
        <p:nvSpPr>
          <p:cNvPr id="173" name="Google Shape;173;p17"/>
          <p:cNvSpPr txBox="1"/>
          <p:nvPr/>
        </p:nvSpPr>
        <p:spPr>
          <a:xfrm>
            <a:off x="1485038" y="3200850"/>
            <a:ext cx="73362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Data and </a:t>
            </a:r>
            <a:r>
              <a:rPr b="1" lang="en-GB"/>
              <a:t>m</a:t>
            </a:r>
            <a:r>
              <a:rPr b="1" lang="en-GB"/>
              <a:t>eta-model</a:t>
            </a:r>
            <a:r>
              <a:rPr lang="en-GB"/>
              <a:t> for software repositories </a:t>
            </a:r>
            <a:br>
              <a:rPr lang="en-GB"/>
            </a:br>
            <a:r>
              <a:rPr lang="en-GB"/>
              <a:t>and software patterns </a:t>
            </a:r>
            <a:r>
              <a:rPr b="1" lang="en-GB"/>
              <a:t>(</a:t>
            </a:r>
            <a:r>
              <a:rPr lang="en-GB"/>
              <a:t>VUB, UCL, </a:t>
            </a:r>
            <a:r>
              <a:rPr b="1" lang="en-GB"/>
              <a:t>RL)</a:t>
            </a:r>
            <a:endParaRPr b="1"/>
          </a:p>
        </p:txBody>
      </p:sp>
      <p:sp>
        <p:nvSpPr>
          <p:cNvPr id="174" name="Google Shape;174;p17"/>
          <p:cNvSpPr txBox="1"/>
          <p:nvPr/>
        </p:nvSpPr>
        <p:spPr>
          <a:xfrm>
            <a:off x="1485038" y="4019950"/>
            <a:ext cx="73362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Pattern mining</a:t>
            </a:r>
            <a:r>
              <a:rPr lang="en-GB"/>
              <a:t> algorithms</a:t>
            </a:r>
            <a:r>
              <a:rPr lang="en-GB"/>
              <a:t> </a:t>
            </a:r>
            <a:br>
              <a:rPr lang="en-GB"/>
            </a:br>
            <a:r>
              <a:rPr b="1" lang="en-GB"/>
              <a:t>(</a:t>
            </a:r>
            <a:r>
              <a:rPr b="1" lang="en-GB"/>
              <a:t>UCL</a:t>
            </a:r>
            <a:r>
              <a:rPr lang="en-GB"/>
              <a:t>, VUB</a:t>
            </a:r>
            <a:r>
              <a:rPr b="1" lang="en-GB"/>
              <a:t>)</a:t>
            </a:r>
            <a:endParaRPr b="1"/>
          </a:p>
        </p:txBody>
      </p:sp>
      <p:sp>
        <p:nvSpPr>
          <p:cNvPr id="175" name="Google Shape;175;p17"/>
          <p:cNvSpPr txBox="1"/>
          <p:nvPr/>
        </p:nvSpPr>
        <p:spPr>
          <a:xfrm>
            <a:off x="1485038" y="4950800"/>
            <a:ext cx="73362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Pro-active </a:t>
            </a:r>
            <a:r>
              <a:rPr b="1" lang="en-GB"/>
              <a:t>modernisation</a:t>
            </a:r>
            <a:r>
              <a:rPr lang="en-GB"/>
              <a:t> </a:t>
            </a:r>
            <a:r>
              <a:rPr b="1" lang="en-GB"/>
              <a:t>assistant</a:t>
            </a:r>
            <a:r>
              <a:rPr lang="en-GB"/>
              <a:t> </a:t>
            </a:r>
            <a:br>
              <a:rPr lang="en-GB"/>
            </a:br>
            <a:r>
              <a:rPr lang="en-GB"/>
              <a:t>(</a:t>
            </a:r>
            <a:r>
              <a:rPr b="1" lang="en-GB"/>
              <a:t>VUB</a:t>
            </a:r>
            <a:r>
              <a:rPr lang="en-GB"/>
              <a:t>, UCL, RL</a:t>
            </a:r>
            <a:r>
              <a:rPr lang="en-GB"/>
              <a:t>)</a:t>
            </a:r>
            <a:endParaRPr b="1"/>
          </a:p>
        </p:txBody>
      </p:sp>
      <p:grpSp>
        <p:nvGrpSpPr>
          <p:cNvPr id="176" name="Google Shape;176;p17"/>
          <p:cNvGrpSpPr/>
          <p:nvPr/>
        </p:nvGrpSpPr>
        <p:grpSpPr>
          <a:xfrm>
            <a:off x="6144813" y="2393125"/>
            <a:ext cx="2683800" cy="1839300"/>
            <a:chOff x="311700" y="4941425"/>
            <a:chExt cx="2683800" cy="1839300"/>
          </a:xfrm>
        </p:grpSpPr>
        <p:sp>
          <p:nvSpPr>
            <p:cNvPr id="177" name="Google Shape;177;p17"/>
            <p:cNvSpPr/>
            <p:nvPr/>
          </p:nvSpPr>
          <p:spPr>
            <a:xfrm>
              <a:off x="311700" y="4941425"/>
              <a:ext cx="2683800" cy="183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
            <p:cNvSpPr txBox="1"/>
            <p:nvPr/>
          </p:nvSpPr>
          <p:spPr>
            <a:xfrm>
              <a:off x="392125" y="6363512"/>
              <a:ext cx="573000" cy="3576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8E7CC3"/>
                </a:solidFill>
              </a:endParaRPr>
            </a:p>
          </p:txBody>
        </p:sp>
        <p:sp>
          <p:nvSpPr>
            <p:cNvPr id="179" name="Google Shape;179;p17"/>
            <p:cNvSpPr txBox="1"/>
            <p:nvPr/>
          </p:nvSpPr>
          <p:spPr>
            <a:xfrm>
              <a:off x="392125" y="5930728"/>
              <a:ext cx="573000" cy="357600"/>
            </a:xfrm>
            <a:prstGeom prst="rect">
              <a:avLst/>
            </a:prstGeom>
            <a:solidFill>
              <a:srgbClr val="F4CCCC"/>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E06666"/>
                </a:solidFill>
              </a:endParaRPr>
            </a:p>
          </p:txBody>
        </p:sp>
        <p:sp>
          <p:nvSpPr>
            <p:cNvPr id="180" name="Google Shape;180;p17"/>
            <p:cNvSpPr txBox="1"/>
            <p:nvPr/>
          </p:nvSpPr>
          <p:spPr>
            <a:xfrm>
              <a:off x="392125" y="5493012"/>
              <a:ext cx="573000" cy="362700"/>
            </a:xfrm>
            <a:prstGeom prst="rect">
              <a:avLst/>
            </a:prstGeom>
            <a:solidFill>
              <a:srgbClr val="E6B8A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E06666"/>
                </a:solidFill>
              </a:endParaRPr>
            </a:p>
          </p:txBody>
        </p:sp>
        <p:sp>
          <p:nvSpPr>
            <p:cNvPr id="181" name="Google Shape;181;p17"/>
            <p:cNvSpPr txBox="1"/>
            <p:nvPr/>
          </p:nvSpPr>
          <p:spPr>
            <a:xfrm>
              <a:off x="2358324" y="5021752"/>
              <a:ext cx="573000" cy="359400"/>
            </a:xfrm>
            <a:prstGeom prst="rect">
              <a:avLst/>
            </a:prstGeom>
            <a:solidFill>
              <a:srgbClr val="CFE2F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8E7CC3"/>
                </a:solidFill>
              </a:endParaRPr>
            </a:p>
          </p:txBody>
        </p:sp>
        <p:sp>
          <p:nvSpPr>
            <p:cNvPr id="182" name="Google Shape;182;p17"/>
            <p:cNvSpPr txBox="1"/>
            <p:nvPr/>
          </p:nvSpPr>
          <p:spPr>
            <a:xfrm>
              <a:off x="1702622" y="5023174"/>
              <a:ext cx="573000" cy="359400"/>
            </a:xfrm>
            <a:prstGeom prst="rect">
              <a:avLst/>
            </a:prstGeom>
            <a:solidFill>
              <a:srgbClr val="D0E0E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E06666"/>
                </a:solidFill>
              </a:endParaRPr>
            </a:p>
          </p:txBody>
        </p:sp>
        <p:sp>
          <p:nvSpPr>
            <p:cNvPr id="183" name="Google Shape;183;p17"/>
            <p:cNvSpPr txBox="1"/>
            <p:nvPr/>
          </p:nvSpPr>
          <p:spPr>
            <a:xfrm>
              <a:off x="1046925" y="5020275"/>
              <a:ext cx="573000" cy="3627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E06666"/>
                </a:solidFill>
              </a:endParaRPr>
            </a:p>
          </p:txBody>
        </p:sp>
        <p:sp>
          <p:nvSpPr>
            <p:cNvPr id="184" name="Google Shape;184;p17"/>
            <p:cNvSpPr/>
            <p:nvPr/>
          </p:nvSpPr>
          <p:spPr>
            <a:xfrm>
              <a:off x="1046925" y="54954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7"/>
            <p:cNvSpPr/>
            <p:nvPr/>
          </p:nvSpPr>
          <p:spPr>
            <a:xfrm>
              <a:off x="1046925" y="593072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7"/>
            <p:cNvSpPr/>
            <p:nvPr/>
          </p:nvSpPr>
          <p:spPr>
            <a:xfrm>
              <a:off x="1046925" y="63659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
            <p:cNvSpPr/>
            <p:nvPr/>
          </p:nvSpPr>
          <p:spPr>
            <a:xfrm>
              <a:off x="1701726" y="54954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7"/>
            <p:cNvSpPr/>
            <p:nvPr/>
          </p:nvSpPr>
          <p:spPr>
            <a:xfrm>
              <a:off x="1701726" y="593072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7"/>
            <p:cNvSpPr/>
            <p:nvPr/>
          </p:nvSpPr>
          <p:spPr>
            <a:xfrm>
              <a:off x="1701726" y="63659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7"/>
            <p:cNvSpPr/>
            <p:nvPr/>
          </p:nvSpPr>
          <p:spPr>
            <a:xfrm>
              <a:off x="2356526" y="5495478"/>
              <a:ext cx="573000" cy="3576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
            <p:cNvSpPr/>
            <p:nvPr/>
          </p:nvSpPr>
          <p:spPr>
            <a:xfrm>
              <a:off x="2356526" y="5930728"/>
              <a:ext cx="573000" cy="3576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
            <p:cNvSpPr/>
            <p:nvPr/>
          </p:nvSpPr>
          <p:spPr>
            <a:xfrm>
              <a:off x="2356526" y="63659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
            <p:cNvSpPr/>
            <p:nvPr/>
          </p:nvSpPr>
          <p:spPr>
            <a:xfrm>
              <a:off x="392125" y="5014750"/>
              <a:ext cx="573000" cy="381000"/>
            </a:xfrm>
            <a:prstGeom prst="rect">
              <a:avLst/>
            </a:prstGeom>
            <a:gradFill>
              <a:gsLst>
                <a:gs pos="0">
                  <a:srgbClr val="FFFFFF"/>
                </a:gs>
                <a:gs pos="100000">
                  <a:srgbClr val="B3B3B3"/>
                </a:gs>
              </a:gsLst>
              <a:path path="circle">
                <a:fillToRect b="50%" l="50%" r="50%" t="50%"/>
              </a:path>
              <a:tileRect/>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WP0</a:t>
              </a:r>
              <a:endParaRPr sz="1200"/>
            </a:p>
          </p:txBody>
        </p:sp>
      </p:grpSp>
      <p:grpSp>
        <p:nvGrpSpPr>
          <p:cNvPr id="194" name="Google Shape;194;p17"/>
          <p:cNvGrpSpPr/>
          <p:nvPr/>
        </p:nvGrpSpPr>
        <p:grpSpPr>
          <a:xfrm>
            <a:off x="5758563" y="2774125"/>
            <a:ext cx="2683800" cy="1839300"/>
            <a:chOff x="311700" y="4941425"/>
            <a:chExt cx="2683800" cy="1839300"/>
          </a:xfrm>
        </p:grpSpPr>
        <p:sp>
          <p:nvSpPr>
            <p:cNvPr id="195" name="Google Shape;195;p17"/>
            <p:cNvSpPr/>
            <p:nvPr/>
          </p:nvSpPr>
          <p:spPr>
            <a:xfrm>
              <a:off x="311700" y="4941425"/>
              <a:ext cx="2683800" cy="183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7"/>
            <p:cNvSpPr txBox="1"/>
            <p:nvPr/>
          </p:nvSpPr>
          <p:spPr>
            <a:xfrm>
              <a:off x="392125" y="6363512"/>
              <a:ext cx="573000" cy="3576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8E7CC3"/>
                </a:solidFill>
              </a:endParaRPr>
            </a:p>
          </p:txBody>
        </p:sp>
        <p:sp>
          <p:nvSpPr>
            <p:cNvPr id="197" name="Google Shape;197;p17"/>
            <p:cNvSpPr txBox="1"/>
            <p:nvPr/>
          </p:nvSpPr>
          <p:spPr>
            <a:xfrm>
              <a:off x="392125" y="5930728"/>
              <a:ext cx="573000" cy="357600"/>
            </a:xfrm>
            <a:prstGeom prst="rect">
              <a:avLst/>
            </a:prstGeom>
            <a:solidFill>
              <a:srgbClr val="F4CCCC"/>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E06666"/>
                </a:solidFill>
              </a:endParaRPr>
            </a:p>
          </p:txBody>
        </p:sp>
        <p:sp>
          <p:nvSpPr>
            <p:cNvPr id="198" name="Google Shape;198;p17"/>
            <p:cNvSpPr txBox="1"/>
            <p:nvPr/>
          </p:nvSpPr>
          <p:spPr>
            <a:xfrm>
              <a:off x="392125" y="5493012"/>
              <a:ext cx="573000" cy="362700"/>
            </a:xfrm>
            <a:prstGeom prst="rect">
              <a:avLst/>
            </a:prstGeom>
            <a:solidFill>
              <a:srgbClr val="E6B8A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E06666"/>
                </a:solidFill>
              </a:endParaRPr>
            </a:p>
          </p:txBody>
        </p:sp>
        <p:sp>
          <p:nvSpPr>
            <p:cNvPr id="199" name="Google Shape;199;p17"/>
            <p:cNvSpPr txBox="1"/>
            <p:nvPr/>
          </p:nvSpPr>
          <p:spPr>
            <a:xfrm>
              <a:off x="2358324" y="5021752"/>
              <a:ext cx="573000" cy="359400"/>
            </a:xfrm>
            <a:prstGeom prst="rect">
              <a:avLst/>
            </a:prstGeom>
            <a:solidFill>
              <a:srgbClr val="CFE2F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8E7CC3"/>
                </a:solidFill>
              </a:endParaRPr>
            </a:p>
          </p:txBody>
        </p:sp>
        <p:sp>
          <p:nvSpPr>
            <p:cNvPr id="200" name="Google Shape;200;p17"/>
            <p:cNvSpPr txBox="1"/>
            <p:nvPr/>
          </p:nvSpPr>
          <p:spPr>
            <a:xfrm>
              <a:off x="1702622" y="5023174"/>
              <a:ext cx="573000" cy="359400"/>
            </a:xfrm>
            <a:prstGeom prst="rect">
              <a:avLst/>
            </a:prstGeom>
            <a:solidFill>
              <a:srgbClr val="D0E0E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E06666"/>
                </a:solidFill>
              </a:endParaRPr>
            </a:p>
          </p:txBody>
        </p:sp>
        <p:sp>
          <p:nvSpPr>
            <p:cNvPr id="201" name="Google Shape;201;p17"/>
            <p:cNvSpPr txBox="1"/>
            <p:nvPr/>
          </p:nvSpPr>
          <p:spPr>
            <a:xfrm>
              <a:off x="1046925" y="5020275"/>
              <a:ext cx="573000" cy="3627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E06666"/>
                </a:solidFill>
              </a:endParaRPr>
            </a:p>
          </p:txBody>
        </p:sp>
        <p:sp>
          <p:nvSpPr>
            <p:cNvPr id="202" name="Google Shape;202;p17"/>
            <p:cNvSpPr/>
            <p:nvPr/>
          </p:nvSpPr>
          <p:spPr>
            <a:xfrm>
              <a:off x="1046925" y="54954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7"/>
            <p:cNvSpPr/>
            <p:nvPr/>
          </p:nvSpPr>
          <p:spPr>
            <a:xfrm>
              <a:off x="1046925" y="593072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p:cNvSpPr/>
            <p:nvPr/>
          </p:nvSpPr>
          <p:spPr>
            <a:xfrm>
              <a:off x="1046925" y="63659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7"/>
            <p:cNvSpPr/>
            <p:nvPr/>
          </p:nvSpPr>
          <p:spPr>
            <a:xfrm>
              <a:off x="1701726" y="54954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7"/>
            <p:cNvSpPr/>
            <p:nvPr/>
          </p:nvSpPr>
          <p:spPr>
            <a:xfrm>
              <a:off x="1701726" y="593072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7"/>
            <p:cNvSpPr/>
            <p:nvPr/>
          </p:nvSpPr>
          <p:spPr>
            <a:xfrm>
              <a:off x="1701726" y="63659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7"/>
            <p:cNvSpPr/>
            <p:nvPr/>
          </p:nvSpPr>
          <p:spPr>
            <a:xfrm>
              <a:off x="2356526" y="54954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7"/>
            <p:cNvSpPr/>
            <p:nvPr/>
          </p:nvSpPr>
          <p:spPr>
            <a:xfrm>
              <a:off x="2356526" y="593072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7"/>
            <p:cNvSpPr/>
            <p:nvPr/>
          </p:nvSpPr>
          <p:spPr>
            <a:xfrm>
              <a:off x="2356526" y="6365978"/>
              <a:ext cx="573000" cy="3576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7"/>
            <p:cNvSpPr/>
            <p:nvPr/>
          </p:nvSpPr>
          <p:spPr>
            <a:xfrm>
              <a:off x="392125" y="5014750"/>
              <a:ext cx="573000" cy="381000"/>
            </a:xfrm>
            <a:prstGeom prst="rect">
              <a:avLst/>
            </a:prstGeom>
            <a:gradFill>
              <a:gsLst>
                <a:gs pos="0">
                  <a:srgbClr val="FFF6DB"/>
                </a:gs>
                <a:gs pos="100000">
                  <a:srgbClr val="FAD25C"/>
                </a:gs>
              </a:gsLst>
              <a:path path="circle">
                <a:fillToRect b="50%" l="50%" r="50%" t="50%"/>
              </a:path>
              <a:tileRect/>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WP1</a:t>
              </a:r>
              <a:endParaRPr sz="1200"/>
            </a:p>
          </p:txBody>
        </p:sp>
      </p:grpSp>
      <p:grpSp>
        <p:nvGrpSpPr>
          <p:cNvPr id="212" name="Google Shape;212;p17"/>
          <p:cNvGrpSpPr/>
          <p:nvPr/>
        </p:nvGrpSpPr>
        <p:grpSpPr>
          <a:xfrm>
            <a:off x="5385438" y="3207800"/>
            <a:ext cx="2683800" cy="1839300"/>
            <a:chOff x="311700" y="4941425"/>
            <a:chExt cx="2683800" cy="1839300"/>
          </a:xfrm>
        </p:grpSpPr>
        <p:sp>
          <p:nvSpPr>
            <p:cNvPr id="213" name="Google Shape;213;p17"/>
            <p:cNvSpPr/>
            <p:nvPr/>
          </p:nvSpPr>
          <p:spPr>
            <a:xfrm>
              <a:off x="311700" y="4941425"/>
              <a:ext cx="2683800" cy="183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7"/>
            <p:cNvSpPr txBox="1"/>
            <p:nvPr/>
          </p:nvSpPr>
          <p:spPr>
            <a:xfrm>
              <a:off x="392125" y="6363512"/>
              <a:ext cx="573000" cy="3576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8E7CC3"/>
                </a:solidFill>
              </a:endParaRPr>
            </a:p>
          </p:txBody>
        </p:sp>
        <p:sp>
          <p:nvSpPr>
            <p:cNvPr id="215" name="Google Shape;215;p17"/>
            <p:cNvSpPr txBox="1"/>
            <p:nvPr/>
          </p:nvSpPr>
          <p:spPr>
            <a:xfrm>
              <a:off x="392125" y="5930728"/>
              <a:ext cx="573000" cy="357600"/>
            </a:xfrm>
            <a:prstGeom prst="rect">
              <a:avLst/>
            </a:prstGeom>
            <a:solidFill>
              <a:srgbClr val="F4CCCC"/>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E06666"/>
                </a:solidFill>
              </a:endParaRPr>
            </a:p>
          </p:txBody>
        </p:sp>
        <p:sp>
          <p:nvSpPr>
            <p:cNvPr id="216" name="Google Shape;216;p17"/>
            <p:cNvSpPr txBox="1"/>
            <p:nvPr/>
          </p:nvSpPr>
          <p:spPr>
            <a:xfrm>
              <a:off x="392125" y="5493012"/>
              <a:ext cx="573000" cy="362700"/>
            </a:xfrm>
            <a:prstGeom prst="rect">
              <a:avLst/>
            </a:prstGeom>
            <a:solidFill>
              <a:srgbClr val="E6B8A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E06666"/>
                </a:solidFill>
              </a:endParaRPr>
            </a:p>
          </p:txBody>
        </p:sp>
        <p:sp>
          <p:nvSpPr>
            <p:cNvPr id="217" name="Google Shape;217;p17"/>
            <p:cNvSpPr txBox="1"/>
            <p:nvPr/>
          </p:nvSpPr>
          <p:spPr>
            <a:xfrm>
              <a:off x="2358324" y="5021752"/>
              <a:ext cx="573000" cy="359400"/>
            </a:xfrm>
            <a:prstGeom prst="rect">
              <a:avLst/>
            </a:prstGeom>
            <a:solidFill>
              <a:srgbClr val="CFE2F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8E7CC3"/>
                </a:solidFill>
              </a:endParaRPr>
            </a:p>
          </p:txBody>
        </p:sp>
        <p:sp>
          <p:nvSpPr>
            <p:cNvPr id="218" name="Google Shape;218;p17"/>
            <p:cNvSpPr txBox="1"/>
            <p:nvPr/>
          </p:nvSpPr>
          <p:spPr>
            <a:xfrm>
              <a:off x="1702622" y="5023174"/>
              <a:ext cx="573000" cy="359400"/>
            </a:xfrm>
            <a:prstGeom prst="rect">
              <a:avLst/>
            </a:prstGeom>
            <a:solidFill>
              <a:srgbClr val="D0E0E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E06666"/>
                </a:solidFill>
              </a:endParaRPr>
            </a:p>
          </p:txBody>
        </p:sp>
        <p:sp>
          <p:nvSpPr>
            <p:cNvPr id="219" name="Google Shape;219;p17"/>
            <p:cNvSpPr txBox="1"/>
            <p:nvPr/>
          </p:nvSpPr>
          <p:spPr>
            <a:xfrm>
              <a:off x="1046925" y="5020275"/>
              <a:ext cx="573000" cy="3627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E06666"/>
                </a:solidFill>
              </a:endParaRPr>
            </a:p>
          </p:txBody>
        </p:sp>
        <p:sp>
          <p:nvSpPr>
            <p:cNvPr id="220" name="Google Shape;220;p17"/>
            <p:cNvSpPr/>
            <p:nvPr/>
          </p:nvSpPr>
          <p:spPr>
            <a:xfrm>
              <a:off x="1046925" y="54954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7"/>
            <p:cNvSpPr/>
            <p:nvPr/>
          </p:nvSpPr>
          <p:spPr>
            <a:xfrm>
              <a:off x="1046925" y="593072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7"/>
            <p:cNvSpPr/>
            <p:nvPr/>
          </p:nvSpPr>
          <p:spPr>
            <a:xfrm>
              <a:off x="1046925" y="63659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7"/>
            <p:cNvSpPr/>
            <p:nvPr/>
          </p:nvSpPr>
          <p:spPr>
            <a:xfrm>
              <a:off x="1701726" y="54954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7"/>
            <p:cNvSpPr/>
            <p:nvPr/>
          </p:nvSpPr>
          <p:spPr>
            <a:xfrm>
              <a:off x="1701726" y="593072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7"/>
            <p:cNvSpPr/>
            <p:nvPr/>
          </p:nvSpPr>
          <p:spPr>
            <a:xfrm>
              <a:off x="1701726" y="63659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7"/>
            <p:cNvSpPr/>
            <p:nvPr/>
          </p:nvSpPr>
          <p:spPr>
            <a:xfrm>
              <a:off x="2356526" y="54954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7"/>
            <p:cNvSpPr/>
            <p:nvPr/>
          </p:nvSpPr>
          <p:spPr>
            <a:xfrm>
              <a:off x="2356526" y="593072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7"/>
            <p:cNvSpPr/>
            <p:nvPr/>
          </p:nvSpPr>
          <p:spPr>
            <a:xfrm>
              <a:off x="2356526" y="6365978"/>
              <a:ext cx="573000" cy="3576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7"/>
            <p:cNvSpPr/>
            <p:nvPr/>
          </p:nvSpPr>
          <p:spPr>
            <a:xfrm>
              <a:off x="392125" y="5014750"/>
              <a:ext cx="573000" cy="381000"/>
            </a:xfrm>
            <a:prstGeom prst="rect">
              <a:avLst/>
            </a:prstGeom>
            <a:gradFill>
              <a:gsLst>
                <a:gs pos="0">
                  <a:srgbClr val="FDECDB"/>
                </a:gs>
                <a:gs pos="100000">
                  <a:srgbClr val="F0A963"/>
                </a:gs>
              </a:gsLst>
              <a:path path="circle">
                <a:fillToRect b="50%" l="50%" r="50%" t="50%"/>
              </a:path>
              <a:tileRect/>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WP2</a:t>
              </a:r>
              <a:endParaRPr sz="1200"/>
            </a:p>
          </p:txBody>
        </p:sp>
      </p:grpSp>
      <p:grpSp>
        <p:nvGrpSpPr>
          <p:cNvPr id="230" name="Google Shape;230;p17"/>
          <p:cNvGrpSpPr/>
          <p:nvPr/>
        </p:nvGrpSpPr>
        <p:grpSpPr>
          <a:xfrm>
            <a:off x="5038588" y="3650325"/>
            <a:ext cx="2683800" cy="1839300"/>
            <a:chOff x="311700" y="4941425"/>
            <a:chExt cx="2683800" cy="1839300"/>
          </a:xfrm>
        </p:grpSpPr>
        <p:sp>
          <p:nvSpPr>
            <p:cNvPr id="231" name="Google Shape;231;p17"/>
            <p:cNvSpPr/>
            <p:nvPr/>
          </p:nvSpPr>
          <p:spPr>
            <a:xfrm>
              <a:off x="311700" y="4941425"/>
              <a:ext cx="2683800" cy="183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7"/>
            <p:cNvSpPr txBox="1"/>
            <p:nvPr/>
          </p:nvSpPr>
          <p:spPr>
            <a:xfrm>
              <a:off x="392125" y="6363512"/>
              <a:ext cx="573000" cy="3576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8E7CC3"/>
                </a:solidFill>
              </a:endParaRPr>
            </a:p>
          </p:txBody>
        </p:sp>
        <p:sp>
          <p:nvSpPr>
            <p:cNvPr id="233" name="Google Shape;233;p17"/>
            <p:cNvSpPr txBox="1"/>
            <p:nvPr/>
          </p:nvSpPr>
          <p:spPr>
            <a:xfrm>
              <a:off x="392125" y="5930728"/>
              <a:ext cx="573000" cy="357600"/>
            </a:xfrm>
            <a:prstGeom prst="rect">
              <a:avLst/>
            </a:prstGeom>
            <a:solidFill>
              <a:srgbClr val="F4CCCC"/>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E06666"/>
                </a:solidFill>
              </a:endParaRPr>
            </a:p>
          </p:txBody>
        </p:sp>
        <p:sp>
          <p:nvSpPr>
            <p:cNvPr id="234" name="Google Shape;234;p17"/>
            <p:cNvSpPr txBox="1"/>
            <p:nvPr/>
          </p:nvSpPr>
          <p:spPr>
            <a:xfrm>
              <a:off x="392125" y="5493012"/>
              <a:ext cx="573000" cy="362700"/>
            </a:xfrm>
            <a:prstGeom prst="rect">
              <a:avLst/>
            </a:prstGeom>
            <a:solidFill>
              <a:srgbClr val="E6B8A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E06666"/>
                </a:solidFill>
              </a:endParaRPr>
            </a:p>
          </p:txBody>
        </p:sp>
        <p:sp>
          <p:nvSpPr>
            <p:cNvPr id="235" name="Google Shape;235;p17"/>
            <p:cNvSpPr txBox="1"/>
            <p:nvPr/>
          </p:nvSpPr>
          <p:spPr>
            <a:xfrm>
              <a:off x="2358324" y="5021752"/>
              <a:ext cx="573000" cy="359400"/>
            </a:xfrm>
            <a:prstGeom prst="rect">
              <a:avLst/>
            </a:prstGeom>
            <a:solidFill>
              <a:srgbClr val="CFE2F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8E7CC3"/>
                </a:solidFill>
              </a:endParaRPr>
            </a:p>
          </p:txBody>
        </p:sp>
        <p:sp>
          <p:nvSpPr>
            <p:cNvPr id="236" name="Google Shape;236;p17"/>
            <p:cNvSpPr txBox="1"/>
            <p:nvPr/>
          </p:nvSpPr>
          <p:spPr>
            <a:xfrm>
              <a:off x="1702622" y="5023174"/>
              <a:ext cx="573000" cy="359400"/>
            </a:xfrm>
            <a:prstGeom prst="rect">
              <a:avLst/>
            </a:prstGeom>
            <a:solidFill>
              <a:srgbClr val="D0E0E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E06666"/>
                </a:solidFill>
              </a:endParaRPr>
            </a:p>
          </p:txBody>
        </p:sp>
        <p:sp>
          <p:nvSpPr>
            <p:cNvPr id="237" name="Google Shape;237;p17"/>
            <p:cNvSpPr txBox="1"/>
            <p:nvPr/>
          </p:nvSpPr>
          <p:spPr>
            <a:xfrm>
              <a:off x="1046925" y="5020275"/>
              <a:ext cx="573000" cy="3627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E06666"/>
                </a:solidFill>
              </a:endParaRPr>
            </a:p>
          </p:txBody>
        </p:sp>
        <p:sp>
          <p:nvSpPr>
            <p:cNvPr id="238" name="Google Shape;238;p17"/>
            <p:cNvSpPr/>
            <p:nvPr/>
          </p:nvSpPr>
          <p:spPr>
            <a:xfrm>
              <a:off x="1046925" y="5495478"/>
              <a:ext cx="573000" cy="3576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7"/>
            <p:cNvSpPr/>
            <p:nvPr/>
          </p:nvSpPr>
          <p:spPr>
            <a:xfrm>
              <a:off x="1046925" y="593072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7"/>
            <p:cNvSpPr/>
            <p:nvPr/>
          </p:nvSpPr>
          <p:spPr>
            <a:xfrm>
              <a:off x="1046925" y="63659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7"/>
            <p:cNvSpPr/>
            <p:nvPr/>
          </p:nvSpPr>
          <p:spPr>
            <a:xfrm>
              <a:off x="1701726" y="54954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7"/>
            <p:cNvSpPr/>
            <p:nvPr/>
          </p:nvSpPr>
          <p:spPr>
            <a:xfrm>
              <a:off x="1701726" y="5930728"/>
              <a:ext cx="573000" cy="3576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7"/>
            <p:cNvSpPr/>
            <p:nvPr/>
          </p:nvSpPr>
          <p:spPr>
            <a:xfrm>
              <a:off x="1701726" y="63659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7"/>
            <p:cNvSpPr/>
            <p:nvPr/>
          </p:nvSpPr>
          <p:spPr>
            <a:xfrm>
              <a:off x="2356526" y="549547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7"/>
            <p:cNvSpPr/>
            <p:nvPr/>
          </p:nvSpPr>
          <p:spPr>
            <a:xfrm>
              <a:off x="2356526" y="5930728"/>
              <a:ext cx="573000" cy="357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7"/>
            <p:cNvSpPr/>
            <p:nvPr/>
          </p:nvSpPr>
          <p:spPr>
            <a:xfrm>
              <a:off x="2356526" y="6365978"/>
              <a:ext cx="573000" cy="3576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7"/>
            <p:cNvSpPr/>
            <p:nvPr/>
          </p:nvSpPr>
          <p:spPr>
            <a:xfrm>
              <a:off x="392125" y="5014750"/>
              <a:ext cx="573000" cy="381000"/>
            </a:xfrm>
            <a:prstGeom prst="rect">
              <a:avLst/>
            </a:prstGeom>
            <a:gradFill>
              <a:gsLst>
                <a:gs pos="0">
                  <a:srgbClr val="F5D0D0"/>
                </a:gs>
                <a:gs pos="100000">
                  <a:srgbClr val="D96868"/>
                </a:gs>
              </a:gsLst>
              <a:path path="circle">
                <a:fillToRect b="50%" l="50%" r="50%" t="50%"/>
              </a:path>
              <a:tileRect/>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WP3</a:t>
              </a:r>
              <a:endParaRPr sz="1200"/>
            </a:p>
          </p:txBody>
        </p:sp>
      </p:grpSp>
      <p:pic>
        <p:nvPicPr>
          <p:cNvPr id="248" name="Google Shape;248;p17"/>
          <p:cNvPicPr preferRelativeResize="0"/>
          <p:nvPr/>
        </p:nvPicPr>
        <p:blipFill>
          <a:blip r:embed="rId4">
            <a:alphaModFix/>
          </a:blip>
          <a:stretch>
            <a:fillRect/>
          </a:stretch>
        </p:blipFill>
        <p:spPr>
          <a:xfrm>
            <a:off x="4572000" y="0"/>
            <a:ext cx="4564505" cy="2400300"/>
          </a:xfrm>
          <a:prstGeom prst="rect">
            <a:avLst/>
          </a:prstGeom>
          <a:noFill/>
          <a:ln>
            <a:noFill/>
          </a:ln>
        </p:spPr>
      </p:pic>
      <p:sp>
        <p:nvSpPr>
          <p:cNvPr id="249" name="Google Shape;249;p17"/>
          <p:cNvSpPr txBox="1"/>
          <p:nvPr/>
        </p:nvSpPr>
        <p:spPr>
          <a:xfrm>
            <a:off x="1485038" y="5961325"/>
            <a:ext cx="73362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Project coordinator (</a:t>
            </a:r>
            <a:r>
              <a:rPr b="1" lang="en-GB"/>
              <a:t>VUB</a:t>
            </a:r>
            <a:r>
              <a:rPr lang="en-GB"/>
              <a:t>)</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3" name="Shape 253"/>
        <p:cNvGrpSpPr/>
        <p:nvPr/>
      </p:nvGrpSpPr>
      <p:grpSpPr>
        <a:xfrm>
          <a:off x="0" y="0"/>
          <a:ext cx="0" cy="0"/>
          <a:chOff x="0" y="0"/>
          <a:chExt cx="0" cy="0"/>
        </a:xfrm>
      </p:grpSpPr>
      <p:sp>
        <p:nvSpPr>
          <p:cNvPr id="254" name="Google Shape;254;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GB">
                <a:solidFill>
                  <a:srgbClr val="4A86E8"/>
                </a:solidFill>
                <a:latin typeface="Syncopate"/>
                <a:ea typeface="Syncopate"/>
                <a:cs typeface="Syncopate"/>
                <a:sym typeface="Syncopate"/>
              </a:rPr>
              <a:t>Project</a:t>
            </a:r>
            <a:r>
              <a:rPr lang="en-GB"/>
              <a:t> </a:t>
            </a:r>
            <a:r>
              <a:rPr b="1" lang="en-GB">
                <a:solidFill>
                  <a:srgbClr val="4A86E8"/>
                </a:solidFill>
                <a:latin typeface="Syncopate"/>
                <a:ea typeface="Syncopate"/>
                <a:cs typeface="Syncopate"/>
                <a:sym typeface="Syncopate"/>
              </a:rPr>
              <a:t>completion</a:t>
            </a:r>
            <a:endParaRPr/>
          </a:p>
        </p:txBody>
      </p:sp>
      <p:graphicFrame>
        <p:nvGraphicFramePr>
          <p:cNvPr id="255" name="Google Shape;255;p18"/>
          <p:cNvGraphicFramePr/>
          <p:nvPr/>
        </p:nvGraphicFramePr>
        <p:xfrm>
          <a:off x="423875" y="1803025"/>
          <a:ext cx="3000000" cy="3000000"/>
        </p:xfrm>
        <a:graphic>
          <a:graphicData uri="http://schemas.openxmlformats.org/drawingml/2006/table">
            <a:tbl>
              <a:tblPr bandRow="1">
                <a:noFill/>
                <a:tableStyleId>{2B2E3431-E231-43FA-9854-3CED197F6A5F}</a:tableStyleId>
              </a:tblPr>
              <a:tblGrid>
                <a:gridCol w="1495675"/>
                <a:gridCol w="1382550"/>
                <a:gridCol w="955200"/>
                <a:gridCol w="1294575"/>
                <a:gridCol w="879800"/>
                <a:gridCol w="2400625"/>
              </a:tblGrid>
              <a:tr h="428750">
                <a:tc>
                  <a:txBody>
                    <a:bodyPr/>
                    <a:lstStyle/>
                    <a:p>
                      <a:pPr indent="0" lvl="0" marL="0" rtl="0" algn="l">
                        <a:spcBef>
                          <a:spcPts val="0"/>
                        </a:spcBef>
                        <a:spcAft>
                          <a:spcPts val="0"/>
                        </a:spcAft>
                        <a:buNone/>
                      </a:pPr>
                      <a:r>
                        <a:rPr b="1" lang="en-GB" sz="1100">
                          <a:latin typeface="Calibri"/>
                          <a:ea typeface="Calibri"/>
                          <a:cs typeface="Calibri"/>
                          <a:sym typeface="Calibri"/>
                        </a:rPr>
                        <a:t>WP Name</a:t>
                      </a:r>
                      <a:endParaRPr b="1"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b="1" lang="en-GB" sz="1100">
                          <a:latin typeface="Calibri"/>
                          <a:ea typeface="Calibri"/>
                          <a:cs typeface="Calibri"/>
                          <a:sym typeface="Calibri"/>
                        </a:rPr>
                        <a:t>Expected Status</a:t>
                      </a:r>
                      <a:endParaRPr b="1"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b="1" lang="en-GB" sz="1100">
                          <a:latin typeface="Calibri"/>
                          <a:ea typeface="Calibri"/>
                          <a:cs typeface="Calibri"/>
                          <a:sym typeface="Calibri"/>
                        </a:rPr>
                        <a:t>Expected % </a:t>
                      </a:r>
                      <a:endParaRPr b="1"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b="1" lang="en-GB" sz="1100">
                          <a:latin typeface="Calibri"/>
                          <a:ea typeface="Calibri"/>
                          <a:cs typeface="Calibri"/>
                          <a:sym typeface="Calibri"/>
                        </a:rPr>
                        <a:t>Actual Status</a:t>
                      </a:r>
                      <a:endParaRPr b="1"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b="1" lang="en-GB" sz="1100">
                          <a:latin typeface="Calibri"/>
                          <a:ea typeface="Calibri"/>
                          <a:cs typeface="Calibri"/>
                          <a:sym typeface="Calibri"/>
                        </a:rPr>
                        <a:t>Actual % </a:t>
                      </a:r>
                      <a:endParaRPr b="1"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b="1" lang="en-GB" sz="1100">
                          <a:latin typeface="Calibri"/>
                          <a:ea typeface="Calibri"/>
                          <a:cs typeface="Calibri"/>
                          <a:sym typeface="Calibri"/>
                        </a:rPr>
                        <a:t>Comments </a:t>
                      </a:r>
                      <a:br>
                        <a:rPr b="1" lang="en-GB" sz="1100">
                          <a:latin typeface="Calibri"/>
                          <a:ea typeface="Calibri"/>
                          <a:cs typeface="Calibri"/>
                          <a:sym typeface="Calibri"/>
                        </a:rPr>
                      </a:br>
                      <a:r>
                        <a:rPr lang="en-GB" sz="1100">
                          <a:latin typeface="Calibri"/>
                          <a:ea typeface="Calibri"/>
                          <a:cs typeface="Calibri"/>
                          <a:sym typeface="Calibri"/>
                        </a:rPr>
                        <a:t>(changes since last report)</a:t>
                      </a:r>
                      <a:endParaRPr sz="1100">
                        <a:latin typeface="Calibri"/>
                        <a:ea typeface="Calibri"/>
                        <a:cs typeface="Calibri"/>
                        <a:sym typeface="Calibri"/>
                      </a:endParaRPr>
                    </a:p>
                  </a:txBody>
                  <a:tcPr marT="0" marB="0" marR="68575" marL="68575"/>
                </a:tc>
              </a:tr>
              <a:tr h="988475">
                <a:tc>
                  <a:txBody>
                    <a:bodyPr/>
                    <a:lstStyle/>
                    <a:p>
                      <a:pPr indent="0" lvl="0" marL="0" rtl="0" algn="l">
                        <a:spcBef>
                          <a:spcPts val="0"/>
                        </a:spcBef>
                        <a:spcAft>
                          <a:spcPts val="0"/>
                        </a:spcAft>
                        <a:buNone/>
                      </a:pPr>
                      <a:r>
                        <a:rPr b="1" lang="en-GB" sz="1100">
                          <a:latin typeface="Calibri"/>
                          <a:ea typeface="Calibri"/>
                          <a:cs typeface="Calibri"/>
                          <a:sym typeface="Calibri"/>
                        </a:rPr>
                        <a:t>WP1</a:t>
                      </a:r>
                      <a:r>
                        <a:rPr lang="en-GB" sz="1100">
                          <a:latin typeface="Calibri"/>
                          <a:ea typeface="Calibri"/>
                          <a:cs typeface="Calibri"/>
                          <a:sym typeface="Calibri"/>
                        </a:rPr>
                        <a:t> </a:t>
                      </a:r>
                      <a:br>
                        <a:rPr lang="en-GB" sz="1100">
                          <a:latin typeface="Calibri"/>
                          <a:ea typeface="Calibri"/>
                          <a:cs typeface="Calibri"/>
                          <a:sym typeface="Calibri"/>
                        </a:rPr>
                      </a:br>
                      <a:r>
                        <a:rPr lang="en-GB" sz="800"/>
                        <a:t>A shared language-parametric meta-model for software repositories and software patterns</a:t>
                      </a:r>
                      <a:endParaRPr sz="8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4 deliverables complete </a:t>
                      </a:r>
                      <a:br>
                        <a:rPr lang="en-GB" sz="1000">
                          <a:latin typeface="Calibri"/>
                          <a:ea typeface="Calibri"/>
                          <a:cs typeface="Calibri"/>
                          <a:sym typeface="Calibri"/>
                        </a:rPr>
                      </a:br>
                      <a:br>
                        <a:rPr lang="en-GB" sz="1000">
                          <a:latin typeface="Calibri"/>
                          <a:ea typeface="Calibri"/>
                          <a:cs typeface="Calibri"/>
                          <a:sym typeface="Calibri"/>
                        </a:rPr>
                      </a:br>
                      <a:r>
                        <a:rPr lang="en-GB" sz="1000">
                          <a:latin typeface="Calibri"/>
                          <a:ea typeface="Calibri"/>
                          <a:cs typeface="Calibri"/>
                          <a:sym typeface="Calibri"/>
                        </a:rPr>
                        <a:t>out of 6 in total</a:t>
                      </a:r>
                      <a:endParaRPr sz="1000">
                        <a:latin typeface="Calibri"/>
                        <a:ea typeface="Calibri"/>
                        <a:cs typeface="Calibri"/>
                        <a:sym typeface="Calibri"/>
                      </a:endParaRPr>
                    </a:p>
                    <a:p>
                      <a:pPr indent="0" lvl="0" marL="0" rtl="0" algn="l">
                        <a:spcBef>
                          <a:spcPts val="0"/>
                        </a:spcBef>
                        <a:spcAft>
                          <a:spcPts val="0"/>
                        </a:spcAft>
                        <a:buNone/>
                      </a:pPr>
                      <a:r>
                        <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4/6 = 66% </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4 out of 6 deliverables complete </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66% </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Deliverables </a:t>
                      </a:r>
                      <a:r>
                        <a:rPr b="1" lang="en-GB" sz="1000">
                          <a:latin typeface="Calibri"/>
                          <a:ea typeface="Calibri"/>
                          <a:cs typeface="Calibri"/>
                          <a:sym typeface="Calibri"/>
                        </a:rPr>
                        <a:t>P1.3, P1.4</a:t>
                      </a:r>
                      <a:r>
                        <a:rPr lang="en-GB" sz="1000">
                          <a:latin typeface="Calibri"/>
                          <a:ea typeface="Calibri"/>
                          <a:cs typeface="Calibri"/>
                          <a:sym typeface="Calibri"/>
                        </a:rPr>
                        <a:t> complete.</a:t>
                      </a:r>
                      <a:endParaRPr sz="1000">
                        <a:latin typeface="Calibri"/>
                        <a:ea typeface="Calibri"/>
                        <a:cs typeface="Calibri"/>
                        <a:sym typeface="Calibri"/>
                      </a:endParaRPr>
                    </a:p>
                    <a:p>
                      <a:pPr indent="0" lvl="0" marL="0" rtl="0" algn="l">
                        <a:spcBef>
                          <a:spcPts val="0"/>
                        </a:spcBef>
                        <a:spcAft>
                          <a:spcPts val="0"/>
                        </a:spcAft>
                        <a:buNone/>
                      </a:pPr>
                      <a:br>
                        <a:rPr lang="en-GB" sz="1000">
                          <a:latin typeface="Calibri"/>
                          <a:ea typeface="Calibri"/>
                          <a:cs typeface="Calibri"/>
                          <a:sym typeface="Calibri"/>
                        </a:rPr>
                      </a:br>
                      <a:endParaRPr sz="1000">
                        <a:latin typeface="Calibri"/>
                        <a:ea typeface="Calibri"/>
                        <a:cs typeface="Calibri"/>
                        <a:sym typeface="Calibri"/>
                      </a:endParaRPr>
                    </a:p>
                  </a:txBody>
                  <a:tcPr marT="0" marB="0" marR="68575" marL="68575"/>
                </a:tc>
              </a:tr>
              <a:tr h="893200">
                <a:tc>
                  <a:txBody>
                    <a:bodyPr/>
                    <a:lstStyle/>
                    <a:p>
                      <a:pPr indent="0" lvl="0" marL="0" rtl="0" algn="l">
                        <a:spcBef>
                          <a:spcPts val="0"/>
                        </a:spcBef>
                        <a:spcAft>
                          <a:spcPts val="0"/>
                        </a:spcAft>
                        <a:buNone/>
                      </a:pPr>
                      <a:r>
                        <a:rPr b="1" lang="en-GB" sz="1100">
                          <a:latin typeface="Calibri"/>
                          <a:ea typeface="Calibri"/>
                          <a:cs typeface="Calibri"/>
                          <a:sym typeface="Calibri"/>
                        </a:rPr>
                        <a:t>WP2</a:t>
                      </a:r>
                      <a:br>
                        <a:rPr b="1" lang="en-GB" sz="1100">
                          <a:latin typeface="Calibri"/>
                          <a:ea typeface="Calibri"/>
                          <a:cs typeface="Calibri"/>
                          <a:sym typeface="Calibri"/>
                        </a:rPr>
                      </a:br>
                      <a:r>
                        <a:rPr lang="en-GB" sz="800"/>
                        <a:t>Frequent subgraph mining algorithms for uncovering software patterns</a:t>
                      </a:r>
                      <a:endParaRPr sz="800"/>
                    </a:p>
                    <a:p>
                      <a:pPr indent="0" lvl="0" marL="0" rtl="0" algn="l">
                        <a:spcBef>
                          <a:spcPts val="0"/>
                        </a:spcBef>
                        <a:spcAft>
                          <a:spcPts val="0"/>
                        </a:spcAft>
                        <a:buNone/>
                      </a:pPr>
                      <a:r>
                        <a:t/>
                      </a:r>
                      <a:endParaRPr b="1"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3 deliverables complete</a:t>
                      </a:r>
                      <a:br>
                        <a:rPr lang="en-GB" sz="1000">
                          <a:latin typeface="Calibri"/>
                          <a:ea typeface="Calibri"/>
                          <a:cs typeface="Calibri"/>
                          <a:sym typeface="Calibri"/>
                        </a:rPr>
                      </a:br>
                      <a:br>
                        <a:rPr lang="en-GB" sz="1000">
                          <a:latin typeface="Calibri"/>
                          <a:ea typeface="Calibri"/>
                          <a:cs typeface="Calibri"/>
                          <a:sym typeface="Calibri"/>
                        </a:rPr>
                      </a:br>
                      <a:r>
                        <a:rPr lang="en-GB" sz="1000">
                          <a:latin typeface="Calibri"/>
                          <a:ea typeface="Calibri"/>
                          <a:cs typeface="Calibri"/>
                          <a:sym typeface="Calibri"/>
                        </a:rPr>
                        <a:t>out of 6 in total</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3/6 = 50%</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3 out of 6 deliverables complete</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50%</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highlight>
                            <a:srgbClr val="00FF00"/>
                          </a:highlight>
                          <a:latin typeface="Calibri"/>
                          <a:ea typeface="Calibri"/>
                          <a:cs typeface="Calibri"/>
                          <a:sym typeface="Calibri"/>
                        </a:rPr>
                        <a:t>Final version </a:t>
                      </a:r>
                      <a:r>
                        <a:rPr b="1" lang="en-GB" sz="1000">
                          <a:highlight>
                            <a:srgbClr val="00FF00"/>
                          </a:highlight>
                          <a:latin typeface="Calibri"/>
                          <a:ea typeface="Calibri"/>
                          <a:cs typeface="Calibri"/>
                          <a:sym typeface="Calibri"/>
                        </a:rPr>
                        <a:t>R2.2</a:t>
                      </a:r>
                      <a:r>
                        <a:rPr lang="en-GB" sz="1000">
                          <a:highlight>
                            <a:srgbClr val="00FF00"/>
                          </a:highlight>
                          <a:latin typeface="Calibri"/>
                          <a:ea typeface="Calibri"/>
                          <a:cs typeface="Calibri"/>
                          <a:sym typeface="Calibri"/>
                        </a:rPr>
                        <a:t> delivered.</a:t>
                      </a:r>
                      <a:br>
                        <a:rPr lang="en-GB" sz="1000">
                          <a:latin typeface="Calibri"/>
                          <a:ea typeface="Calibri"/>
                          <a:cs typeface="Calibri"/>
                          <a:sym typeface="Calibri"/>
                        </a:rPr>
                      </a:br>
                      <a:r>
                        <a:rPr lang="en-GB" sz="1000">
                          <a:latin typeface="Calibri"/>
                          <a:ea typeface="Calibri"/>
                          <a:cs typeface="Calibri"/>
                          <a:sym typeface="Calibri"/>
                        </a:rPr>
                        <a:t>(was delayed in previous report)</a:t>
                      </a:r>
                      <a:br>
                        <a:rPr lang="en-GB" sz="1000">
                          <a:latin typeface="Calibri"/>
                          <a:ea typeface="Calibri"/>
                          <a:cs typeface="Calibri"/>
                          <a:sym typeface="Calibri"/>
                        </a:rPr>
                      </a:br>
                      <a:endParaRPr sz="1000">
                        <a:latin typeface="Calibri"/>
                        <a:ea typeface="Calibri"/>
                        <a:cs typeface="Calibri"/>
                        <a:sym typeface="Calibri"/>
                      </a:endParaRPr>
                    </a:p>
                    <a:p>
                      <a:pPr indent="0" lvl="0" marL="0" rtl="0" algn="l">
                        <a:spcBef>
                          <a:spcPts val="0"/>
                        </a:spcBef>
                        <a:spcAft>
                          <a:spcPts val="0"/>
                        </a:spcAft>
                        <a:buNone/>
                      </a:pPr>
                      <a:r>
                        <a:rPr lang="en-GB" sz="1000">
                          <a:latin typeface="Calibri"/>
                          <a:ea typeface="Calibri"/>
                          <a:cs typeface="Calibri"/>
                          <a:sym typeface="Calibri"/>
                        </a:rPr>
                        <a:t>Deliverable </a:t>
                      </a:r>
                      <a:r>
                        <a:rPr b="1" lang="en-GB" sz="1000">
                          <a:latin typeface="Calibri"/>
                          <a:ea typeface="Calibri"/>
                          <a:cs typeface="Calibri"/>
                          <a:sym typeface="Calibri"/>
                        </a:rPr>
                        <a:t>R2.3</a:t>
                      </a:r>
                      <a:r>
                        <a:rPr lang="en-GB" sz="1000">
                          <a:latin typeface="Calibri"/>
                          <a:ea typeface="Calibri"/>
                          <a:cs typeface="Calibri"/>
                          <a:sym typeface="Calibri"/>
                        </a:rPr>
                        <a:t> complete.</a:t>
                      </a:r>
                      <a:endParaRPr sz="1000">
                        <a:latin typeface="Calibri"/>
                        <a:ea typeface="Calibri"/>
                        <a:cs typeface="Calibri"/>
                        <a:sym typeface="Calibri"/>
                      </a:endParaRPr>
                    </a:p>
                  </a:txBody>
                  <a:tcPr marT="0" marB="0" marR="68575" marL="68575"/>
                </a:tc>
              </a:tr>
              <a:tr h="988475">
                <a:tc>
                  <a:txBody>
                    <a:bodyPr/>
                    <a:lstStyle/>
                    <a:p>
                      <a:pPr indent="0" lvl="0" marL="0" rtl="0" algn="l">
                        <a:spcBef>
                          <a:spcPts val="0"/>
                        </a:spcBef>
                        <a:spcAft>
                          <a:spcPts val="0"/>
                        </a:spcAft>
                        <a:buNone/>
                      </a:pPr>
                      <a:r>
                        <a:rPr b="1" lang="en-GB" sz="1100">
                          <a:latin typeface="Calibri"/>
                          <a:ea typeface="Calibri"/>
                          <a:cs typeface="Calibri"/>
                          <a:sym typeface="Calibri"/>
                        </a:rPr>
                        <a:t>WP3</a:t>
                      </a:r>
                      <a:br>
                        <a:rPr b="1" lang="en-GB" sz="1100">
                          <a:latin typeface="Calibri"/>
                          <a:ea typeface="Calibri"/>
                          <a:cs typeface="Calibri"/>
                          <a:sym typeface="Calibri"/>
                        </a:rPr>
                      </a:br>
                      <a:r>
                        <a:rPr lang="en-GB" sz="800"/>
                        <a:t>Towards a pro-active modernisation assistant through matching algorithms for mined patterns</a:t>
                      </a:r>
                      <a:endParaRPr sz="8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1 deliverable complete</a:t>
                      </a:r>
                      <a:br>
                        <a:rPr lang="en-GB" sz="1000">
                          <a:latin typeface="Calibri"/>
                          <a:ea typeface="Calibri"/>
                          <a:cs typeface="Calibri"/>
                          <a:sym typeface="Calibri"/>
                        </a:rPr>
                      </a:br>
                      <a:br>
                        <a:rPr lang="en-GB" sz="1000">
                          <a:latin typeface="Calibri"/>
                          <a:ea typeface="Calibri"/>
                          <a:cs typeface="Calibri"/>
                          <a:sym typeface="Calibri"/>
                        </a:rPr>
                      </a:br>
                      <a:r>
                        <a:rPr lang="en-GB" sz="1000">
                          <a:latin typeface="Calibri"/>
                          <a:ea typeface="Calibri"/>
                          <a:cs typeface="Calibri"/>
                          <a:sym typeface="Calibri"/>
                        </a:rPr>
                        <a:t>out of 3 in total</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1/3 = 33%</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1 deliverable complete</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33%</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No changes expected since last report.</a:t>
                      </a:r>
                      <a:endParaRPr sz="1000">
                        <a:latin typeface="Calibri"/>
                        <a:ea typeface="Calibri"/>
                        <a:cs typeface="Calibri"/>
                        <a:sym typeface="Calibri"/>
                      </a:endParaRPr>
                    </a:p>
                    <a:p>
                      <a:pPr indent="0" lvl="0" marL="0" rtl="0" algn="l">
                        <a:spcBef>
                          <a:spcPts val="0"/>
                        </a:spcBef>
                        <a:spcAft>
                          <a:spcPts val="0"/>
                        </a:spcAft>
                        <a:buNone/>
                      </a:pPr>
                      <a:r>
                        <a:t/>
                      </a:r>
                      <a:endParaRPr sz="1000">
                        <a:latin typeface="Calibri"/>
                        <a:ea typeface="Calibri"/>
                        <a:cs typeface="Calibri"/>
                        <a:sym typeface="Calibri"/>
                      </a:endParaRPr>
                    </a:p>
                  </a:txBody>
                  <a:tcPr marT="0" marB="0" marR="68575" marL="68575"/>
                </a:tc>
              </a:tr>
              <a:tr h="893200">
                <a:tc>
                  <a:txBody>
                    <a:bodyPr/>
                    <a:lstStyle/>
                    <a:p>
                      <a:pPr indent="0" lvl="0" marL="0" rtl="0" algn="l">
                        <a:spcBef>
                          <a:spcPts val="0"/>
                        </a:spcBef>
                        <a:spcAft>
                          <a:spcPts val="0"/>
                        </a:spcAft>
                        <a:buNone/>
                      </a:pPr>
                      <a:r>
                        <a:rPr b="1" lang="en-GB" sz="1100">
                          <a:latin typeface="Calibri"/>
                          <a:ea typeface="Calibri"/>
                          <a:cs typeface="Calibri"/>
                          <a:sym typeface="Calibri"/>
                        </a:rPr>
                        <a:t>WP0</a:t>
                      </a:r>
                      <a:br>
                        <a:rPr b="1" lang="en-GB" sz="1100">
                          <a:latin typeface="Calibri"/>
                          <a:ea typeface="Calibri"/>
                          <a:cs typeface="Calibri"/>
                          <a:sym typeface="Calibri"/>
                        </a:rPr>
                      </a:br>
                      <a:r>
                        <a:rPr lang="en-GB" sz="800"/>
                        <a:t>Evaluation of developed technology on legacy systems at Raincode Labs</a:t>
                      </a:r>
                      <a:endParaRPr sz="800"/>
                    </a:p>
                    <a:p>
                      <a:pPr indent="0" lvl="0" marL="0" rtl="0" algn="l">
                        <a:spcBef>
                          <a:spcPts val="0"/>
                        </a:spcBef>
                        <a:spcAft>
                          <a:spcPts val="0"/>
                        </a:spcAft>
                        <a:buNone/>
                      </a:pPr>
                      <a:r>
                        <a:rPr lang="en-GB" sz="1100">
                          <a:latin typeface="Calibri"/>
                          <a:ea typeface="Calibri"/>
                          <a:cs typeface="Calibri"/>
                          <a:sym typeface="Calibri"/>
                        </a:rPr>
                        <a:t> </a:t>
                      </a:r>
                      <a:endParaRPr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3 deliverables complete</a:t>
                      </a:r>
                      <a:br>
                        <a:rPr lang="en-GB" sz="1000">
                          <a:latin typeface="Calibri"/>
                          <a:ea typeface="Calibri"/>
                          <a:cs typeface="Calibri"/>
                          <a:sym typeface="Calibri"/>
                        </a:rPr>
                      </a:br>
                      <a:br>
                        <a:rPr lang="en-GB" sz="1000">
                          <a:latin typeface="Calibri"/>
                          <a:ea typeface="Calibri"/>
                          <a:cs typeface="Calibri"/>
                          <a:sym typeface="Calibri"/>
                        </a:rPr>
                      </a:br>
                      <a:r>
                        <a:rPr lang="en-GB" sz="1000">
                          <a:latin typeface="Calibri"/>
                          <a:ea typeface="Calibri"/>
                          <a:cs typeface="Calibri"/>
                          <a:sym typeface="Calibri"/>
                        </a:rPr>
                        <a:t>out of 6 in total</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3/6 = 50%</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1 deliverables complete</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latin typeface="Calibri"/>
                          <a:ea typeface="Calibri"/>
                          <a:cs typeface="Calibri"/>
                          <a:sym typeface="Calibri"/>
                        </a:rPr>
                        <a:t>50%</a:t>
                      </a:r>
                      <a:endParaRPr sz="10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GB" sz="1000">
                          <a:highlight>
                            <a:srgbClr val="00FF00"/>
                          </a:highlight>
                          <a:latin typeface="Calibri"/>
                          <a:ea typeface="Calibri"/>
                          <a:cs typeface="Calibri"/>
                          <a:sym typeface="Calibri"/>
                        </a:rPr>
                        <a:t>Final version </a:t>
                      </a:r>
                      <a:r>
                        <a:rPr b="1" lang="en-GB" sz="1000">
                          <a:highlight>
                            <a:srgbClr val="00FF00"/>
                          </a:highlight>
                          <a:latin typeface="Calibri"/>
                          <a:ea typeface="Calibri"/>
                          <a:cs typeface="Calibri"/>
                          <a:sym typeface="Calibri"/>
                        </a:rPr>
                        <a:t>R0.2</a:t>
                      </a:r>
                      <a:r>
                        <a:rPr lang="en-GB" sz="1000">
                          <a:highlight>
                            <a:srgbClr val="00FF00"/>
                          </a:highlight>
                          <a:latin typeface="Calibri"/>
                          <a:ea typeface="Calibri"/>
                          <a:cs typeface="Calibri"/>
                          <a:sym typeface="Calibri"/>
                        </a:rPr>
                        <a:t> delivered.</a:t>
                      </a:r>
                      <a:br>
                        <a:rPr lang="en-GB" sz="1000">
                          <a:latin typeface="Calibri"/>
                          <a:ea typeface="Calibri"/>
                          <a:cs typeface="Calibri"/>
                          <a:sym typeface="Calibri"/>
                        </a:rPr>
                      </a:br>
                      <a:r>
                        <a:rPr lang="en-GB" sz="1000">
                          <a:latin typeface="Calibri"/>
                          <a:ea typeface="Calibri"/>
                          <a:cs typeface="Calibri"/>
                          <a:sym typeface="Calibri"/>
                        </a:rPr>
                        <a:t>(was delayed in previous report)</a:t>
                      </a:r>
                      <a:br>
                        <a:rPr lang="en-GB" sz="1000">
                          <a:latin typeface="Calibri"/>
                          <a:ea typeface="Calibri"/>
                          <a:cs typeface="Calibri"/>
                          <a:sym typeface="Calibri"/>
                        </a:rPr>
                      </a:br>
                      <a:endParaRPr sz="1000">
                        <a:latin typeface="Calibri"/>
                        <a:ea typeface="Calibri"/>
                        <a:cs typeface="Calibri"/>
                        <a:sym typeface="Calibri"/>
                      </a:endParaRPr>
                    </a:p>
                    <a:p>
                      <a:pPr indent="0" lvl="0" marL="0" rtl="0" algn="l">
                        <a:spcBef>
                          <a:spcPts val="0"/>
                        </a:spcBef>
                        <a:spcAft>
                          <a:spcPts val="0"/>
                        </a:spcAft>
                        <a:buNone/>
                      </a:pPr>
                      <a:r>
                        <a:rPr lang="en-GB" sz="1000">
                          <a:latin typeface="Calibri"/>
                          <a:ea typeface="Calibri"/>
                          <a:cs typeface="Calibri"/>
                          <a:sym typeface="Calibri"/>
                        </a:rPr>
                        <a:t>Deliverable </a:t>
                      </a:r>
                      <a:r>
                        <a:rPr b="1" lang="en-GB" sz="1000">
                          <a:latin typeface="Calibri"/>
                          <a:ea typeface="Calibri"/>
                          <a:cs typeface="Calibri"/>
                          <a:sym typeface="Calibri"/>
                        </a:rPr>
                        <a:t>P0.3 </a:t>
                      </a:r>
                      <a:r>
                        <a:rPr lang="en-GB" sz="1000">
                          <a:latin typeface="Calibri"/>
                          <a:ea typeface="Calibri"/>
                          <a:cs typeface="Calibri"/>
                          <a:sym typeface="Calibri"/>
                        </a:rPr>
                        <a:t>complete. </a:t>
                      </a:r>
                      <a:endParaRPr sz="1000">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9" name="Shape 259"/>
        <p:cNvGrpSpPr/>
        <p:nvPr/>
      </p:nvGrpSpPr>
      <p:grpSpPr>
        <a:xfrm>
          <a:off x="0" y="0"/>
          <a:ext cx="0" cy="0"/>
          <a:chOff x="0" y="0"/>
          <a:chExt cx="0" cy="0"/>
        </a:xfrm>
      </p:grpSpPr>
      <p:sp>
        <p:nvSpPr>
          <p:cNvPr id="260" name="Google Shape;260;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GB">
                <a:solidFill>
                  <a:srgbClr val="4A86E8"/>
                </a:solidFill>
                <a:latin typeface="Syncopate"/>
                <a:ea typeface="Syncopate"/>
                <a:cs typeface="Syncopate"/>
                <a:sym typeface="Syncopate"/>
              </a:rPr>
              <a:t>Deliverable</a:t>
            </a:r>
            <a:r>
              <a:rPr lang="en-GB"/>
              <a:t> </a:t>
            </a:r>
            <a:r>
              <a:rPr b="1" lang="en-GB">
                <a:solidFill>
                  <a:srgbClr val="4A86E8"/>
                </a:solidFill>
                <a:latin typeface="Syncopate"/>
                <a:ea typeface="Syncopate"/>
                <a:cs typeface="Syncopate"/>
                <a:sym typeface="Syncopate"/>
              </a:rPr>
              <a:t>status</a:t>
            </a:r>
            <a:endParaRPr/>
          </a:p>
        </p:txBody>
      </p:sp>
      <p:graphicFrame>
        <p:nvGraphicFramePr>
          <p:cNvPr id="261" name="Google Shape;261;p19"/>
          <p:cNvGraphicFramePr/>
          <p:nvPr/>
        </p:nvGraphicFramePr>
        <p:xfrm>
          <a:off x="442825" y="1356875"/>
          <a:ext cx="3000000" cy="3000000"/>
        </p:xfrm>
        <a:graphic>
          <a:graphicData uri="http://schemas.openxmlformats.org/drawingml/2006/table">
            <a:tbl>
              <a:tblPr>
                <a:noFill/>
                <a:tableStyleId>{CE99B346-5764-4B13-A2DA-71392540EDAC}</a:tableStyleId>
              </a:tblPr>
              <a:tblGrid>
                <a:gridCol w="285750"/>
                <a:gridCol w="4791075"/>
                <a:gridCol w="390525"/>
                <a:gridCol w="819150"/>
              </a:tblGrid>
              <a:tr h="190500">
                <a:tc>
                  <a:txBody>
                    <a:bodyPr/>
                    <a:lstStyle/>
                    <a:p>
                      <a:pPr indent="0" lvl="0" marL="0" rtl="0" algn="ctr">
                        <a:lnSpc>
                          <a:spcPct val="115000"/>
                        </a:lnSpc>
                        <a:spcBef>
                          <a:spcPts val="0"/>
                        </a:spcBef>
                        <a:spcAft>
                          <a:spcPts val="0"/>
                        </a:spcAft>
                        <a:buNone/>
                      </a:pPr>
                      <a:r>
                        <a:rPr b="1" lang="en-GB" sz="800"/>
                        <a:t>ID</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t>Description</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t>Due</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t>Status</a:t>
                      </a:r>
                      <a:endParaRPr sz="800"/>
                    </a:p>
                  </a:txBody>
                  <a:tcPr marT="25400" marB="25400" marR="25400" marL="25400" anchor="ctr">
                    <a:lnB cap="flat" cmpd="sng" w="9525">
                      <a:solidFill>
                        <a:srgbClr val="000000"/>
                      </a:solidFill>
                      <a:prstDash val="solid"/>
                      <a:round/>
                      <a:headEnd len="sm" w="sm" type="none"/>
                      <a:tailEnd len="sm" w="sm" type="none"/>
                    </a:lnB>
                  </a:tcPr>
                </a:tc>
              </a:tr>
              <a:tr h="177800">
                <a:tc>
                  <a:txBody>
                    <a:bodyPr/>
                    <a:lstStyle/>
                    <a:p>
                      <a:pPr indent="0" lvl="0" marL="0" rtl="0" algn="l">
                        <a:lnSpc>
                          <a:spcPct val="115000"/>
                        </a:lnSpc>
                        <a:spcBef>
                          <a:spcPts val="0"/>
                        </a:spcBef>
                        <a:spcAft>
                          <a:spcPts val="0"/>
                        </a:spcAft>
                        <a:buNone/>
                      </a:pPr>
                      <a:r>
                        <a:rPr b="1" lang="en-GB" sz="800"/>
                        <a:t>P1.1</a:t>
                      </a:r>
                      <a:endParaRPr b="1" sz="800"/>
                    </a:p>
                  </a:txBody>
                  <a:tcPr marT="25400" marB="25400" marR="25400" marL="25400" anchor="ctr">
                    <a:lnT cap="flat" cmpd="sng" w="9525">
                      <a:solidFill>
                        <a:srgbClr val="000000"/>
                      </a:solidFill>
                      <a:prstDash val="solid"/>
                      <a:round/>
                      <a:headEnd len="sm" w="sm" type="none"/>
                      <a:tailEnd len="sm" w="sm" type="none"/>
                    </a:lnT>
                    <a:solidFill>
                      <a:srgbClr val="EFEFEF"/>
                    </a:solidFill>
                  </a:tcPr>
                </a:tc>
                <a:tc>
                  <a:txBody>
                    <a:bodyPr/>
                    <a:lstStyle/>
                    <a:p>
                      <a:pPr indent="0" lvl="0" marL="0" rtl="0" algn="l">
                        <a:lnSpc>
                          <a:spcPct val="115000"/>
                        </a:lnSpc>
                        <a:spcBef>
                          <a:spcPts val="0"/>
                        </a:spcBef>
                        <a:spcAft>
                          <a:spcPts val="0"/>
                        </a:spcAft>
                        <a:buNone/>
                      </a:pPr>
                      <a:r>
                        <a:rPr lang="en-GB" sz="800"/>
                        <a:t>Prototype implementation of the meta-model and an accompanying importer for syntactic information</a:t>
                      </a:r>
                      <a:endParaRPr sz="800"/>
                    </a:p>
                  </a:txBody>
                  <a:tcPr marT="25400" marB="25400" marR="25400" marL="25400" anchor="ctr">
                    <a:lnT cap="flat" cmpd="sng" w="9525">
                      <a:solidFill>
                        <a:srgbClr val="000000"/>
                      </a:solidFill>
                      <a:prstDash val="solid"/>
                      <a:round/>
                      <a:headEnd len="sm" w="sm" type="none"/>
                      <a:tailEnd len="sm" w="sm" type="none"/>
                    </a:lnT>
                    <a:solidFill>
                      <a:srgbClr val="EFEFEF"/>
                    </a:solidFill>
                  </a:tcPr>
                </a:tc>
                <a:tc>
                  <a:txBody>
                    <a:bodyPr/>
                    <a:lstStyle/>
                    <a:p>
                      <a:pPr indent="0" lvl="0" marL="0" rtl="0" algn="ctr">
                        <a:lnSpc>
                          <a:spcPct val="115000"/>
                        </a:lnSpc>
                        <a:spcBef>
                          <a:spcPts val="0"/>
                        </a:spcBef>
                        <a:spcAft>
                          <a:spcPts val="0"/>
                        </a:spcAft>
                        <a:buNone/>
                      </a:pPr>
                      <a:r>
                        <a:rPr b="1" lang="en-GB" sz="800"/>
                        <a:t>M03</a:t>
                      </a:r>
                      <a:endParaRPr b="1" sz="800"/>
                    </a:p>
                  </a:txBody>
                  <a:tcPr marT="25400" marB="25400" marR="25400" marL="25400" anchor="ctr">
                    <a:lnT cap="flat" cmpd="sng" w="9525">
                      <a:solidFill>
                        <a:srgbClr val="000000"/>
                      </a:solidFill>
                      <a:prstDash val="solid"/>
                      <a:round/>
                      <a:headEnd len="sm" w="sm" type="none"/>
                      <a:tailEnd len="sm" w="sm" type="none"/>
                    </a:lnT>
                    <a:solidFill>
                      <a:srgbClr val="EFEFEF"/>
                    </a:solidFill>
                  </a:tcPr>
                </a:tc>
                <a:tc>
                  <a:txBody>
                    <a:bodyPr/>
                    <a:lstStyle/>
                    <a:p>
                      <a:pPr indent="0" lvl="0" marL="0" rtl="0" algn="ctr">
                        <a:lnSpc>
                          <a:spcPct val="115000"/>
                        </a:lnSpc>
                        <a:spcBef>
                          <a:spcPts val="0"/>
                        </a:spcBef>
                        <a:spcAft>
                          <a:spcPts val="0"/>
                        </a:spcAft>
                        <a:buNone/>
                      </a:pPr>
                      <a:r>
                        <a:rPr lang="en-GB" sz="800"/>
                        <a:t>complete</a:t>
                      </a:r>
                      <a:endParaRPr sz="800"/>
                    </a:p>
                  </a:txBody>
                  <a:tcPr marT="25400" marB="25400" marR="25400" marL="25400" anchor="ctr">
                    <a:lnT cap="flat" cmpd="sng" w="9525">
                      <a:solidFill>
                        <a:srgbClr val="000000"/>
                      </a:solidFill>
                      <a:prstDash val="solid"/>
                      <a:round/>
                      <a:headEnd len="sm" w="sm" type="none"/>
                      <a:tailEnd len="sm" w="sm" type="none"/>
                    </a:lnT>
                    <a:solidFill>
                      <a:srgbClr val="EFEFEF"/>
                    </a:solidFill>
                  </a:tcPr>
                </a:tc>
              </a:tr>
              <a:tr h="177800">
                <a:tc>
                  <a:txBody>
                    <a:bodyPr/>
                    <a:lstStyle/>
                    <a:p>
                      <a:pPr indent="0" lvl="0" marL="0" rtl="0" algn="l">
                        <a:lnSpc>
                          <a:spcPct val="115000"/>
                        </a:lnSpc>
                        <a:spcBef>
                          <a:spcPts val="0"/>
                        </a:spcBef>
                        <a:spcAft>
                          <a:spcPts val="0"/>
                        </a:spcAft>
                        <a:buNone/>
                      </a:pPr>
                      <a:r>
                        <a:rPr b="1" lang="en-GB" sz="800"/>
                        <a:t>P1.2</a:t>
                      </a:r>
                      <a:endParaRPr b="1" sz="800"/>
                    </a:p>
                  </a:txBody>
                  <a:tcPr marT="25400" marB="25400" marR="25400" marL="25400" anchor="ctr">
                    <a:solidFill>
                      <a:srgbClr val="EFEFEF"/>
                    </a:solidFill>
                  </a:tcPr>
                </a:tc>
                <a:tc>
                  <a:txBody>
                    <a:bodyPr/>
                    <a:lstStyle/>
                    <a:p>
                      <a:pPr indent="0" lvl="0" marL="0" rtl="0" algn="l">
                        <a:lnSpc>
                          <a:spcPct val="115000"/>
                        </a:lnSpc>
                        <a:spcBef>
                          <a:spcPts val="0"/>
                        </a:spcBef>
                        <a:spcAft>
                          <a:spcPts val="0"/>
                        </a:spcAft>
                        <a:buNone/>
                      </a:pPr>
                      <a:r>
                        <a:rPr lang="en-GB" sz="800"/>
                        <a:t>Prototype implementation of its representation for coding conventions &amp; idioms</a:t>
                      </a:r>
                      <a:endParaRPr sz="800"/>
                    </a:p>
                  </a:txBody>
                  <a:tcPr marT="25400" marB="25400" marR="25400" marL="25400" anchor="ctr">
                    <a:solidFill>
                      <a:srgbClr val="EFEFEF"/>
                    </a:solidFill>
                  </a:tcPr>
                </a:tc>
                <a:tc>
                  <a:txBody>
                    <a:bodyPr/>
                    <a:lstStyle/>
                    <a:p>
                      <a:pPr indent="0" lvl="0" marL="0" rtl="0" algn="ctr">
                        <a:lnSpc>
                          <a:spcPct val="115000"/>
                        </a:lnSpc>
                        <a:spcBef>
                          <a:spcPts val="0"/>
                        </a:spcBef>
                        <a:spcAft>
                          <a:spcPts val="0"/>
                        </a:spcAft>
                        <a:buNone/>
                      </a:pPr>
                      <a:r>
                        <a:rPr b="1" lang="en-GB" sz="800"/>
                        <a:t>M03</a:t>
                      </a:r>
                      <a:endParaRPr b="1" sz="800"/>
                    </a:p>
                  </a:txBody>
                  <a:tcPr marT="25400" marB="25400" marR="25400" marL="25400" anchor="ctr">
                    <a:solidFill>
                      <a:srgbClr val="EFEFEF"/>
                    </a:solidFill>
                  </a:tcPr>
                </a:tc>
                <a:tc>
                  <a:txBody>
                    <a:bodyPr/>
                    <a:lstStyle/>
                    <a:p>
                      <a:pPr indent="0" lvl="0" marL="0" rtl="0" algn="ctr">
                        <a:lnSpc>
                          <a:spcPct val="115000"/>
                        </a:lnSpc>
                        <a:spcBef>
                          <a:spcPts val="0"/>
                        </a:spcBef>
                        <a:spcAft>
                          <a:spcPts val="0"/>
                        </a:spcAft>
                        <a:buNone/>
                      </a:pPr>
                      <a:r>
                        <a:rPr lang="en-GB" sz="800"/>
                        <a:t>complete</a:t>
                      </a:r>
                      <a:endParaRPr sz="800"/>
                    </a:p>
                  </a:txBody>
                  <a:tcPr marT="25400" marB="25400" marR="25400" marL="25400" anchor="ctr">
                    <a:solidFill>
                      <a:srgbClr val="EFEFEF"/>
                    </a:solidFill>
                  </a:tcPr>
                </a:tc>
              </a:tr>
              <a:tr h="190500">
                <a:tc>
                  <a:txBody>
                    <a:bodyPr/>
                    <a:lstStyle/>
                    <a:p>
                      <a:pPr indent="0" lvl="0" marL="0" rtl="0" algn="l">
                        <a:lnSpc>
                          <a:spcPct val="115000"/>
                        </a:lnSpc>
                        <a:spcBef>
                          <a:spcPts val="0"/>
                        </a:spcBef>
                        <a:spcAft>
                          <a:spcPts val="0"/>
                        </a:spcAft>
                        <a:buNone/>
                      </a:pPr>
                      <a:r>
                        <a:rPr b="1" lang="en-GB" sz="800"/>
                        <a:t>P1.3</a:t>
                      </a:r>
                      <a:endParaRPr b="1" sz="800"/>
                    </a:p>
                  </a:txBody>
                  <a:tcPr marT="25400" marB="25400" marR="25400" marL="25400" anchor="ctr">
                    <a:solidFill>
                      <a:srgbClr val="D9EAD3"/>
                    </a:solidFill>
                  </a:tcPr>
                </a:tc>
                <a:tc>
                  <a:txBody>
                    <a:bodyPr/>
                    <a:lstStyle/>
                    <a:p>
                      <a:pPr indent="0" lvl="0" marL="0" rtl="0" algn="l">
                        <a:lnSpc>
                          <a:spcPct val="115000"/>
                        </a:lnSpc>
                        <a:spcBef>
                          <a:spcPts val="0"/>
                        </a:spcBef>
                        <a:spcAft>
                          <a:spcPts val="0"/>
                        </a:spcAft>
                        <a:buNone/>
                      </a:pPr>
                      <a:r>
                        <a:rPr lang="en-GB" sz="800"/>
                        <a:t>Extension of meta-model and importer with support for semantic information</a:t>
                      </a:r>
                      <a:endParaRPr sz="800"/>
                    </a:p>
                  </a:txBody>
                  <a:tcPr marT="25400" marB="25400" marR="25400" marL="25400" anchor="ctr">
                    <a:solidFill>
                      <a:srgbClr val="D9EAD3"/>
                    </a:solidFill>
                  </a:tcPr>
                </a:tc>
                <a:tc>
                  <a:txBody>
                    <a:bodyPr/>
                    <a:lstStyle/>
                    <a:p>
                      <a:pPr indent="0" lvl="0" marL="0" rtl="0" algn="ctr">
                        <a:lnSpc>
                          <a:spcPct val="115000"/>
                        </a:lnSpc>
                        <a:spcBef>
                          <a:spcPts val="0"/>
                        </a:spcBef>
                        <a:spcAft>
                          <a:spcPts val="0"/>
                        </a:spcAft>
                        <a:buNone/>
                      </a:pPr>
                      <a:r>
                        <a:rPr b="1" lang="en-GB" sz="800"/>
                        <a:t>M15</a:t>
                      </a:r>
                      <a:endParaRPr b="1" sz="800"/>
                    </a:p>
                  </a:txBody>
                  <a:tcPr marT="25400" marB="25400" marR="25400" marL="25400" anchor="ctr">
                    <a:solidFill>
                      <a:srgbClr val="D9EAD3"/>
                    </a:solidFill>
                  </a:tcPr>
                </a:tc>
                <a:tc>
                  <a:txBody>
                    <a:bodyPr/>
                    <a:lstStyle/>
                    <a:p>
                      <a:pPr indent="0" lvl="0" marL="0" rtl="0" algn="ctr">
                        <a:lnSpc>
                          <a:spcPct val="115000"/>
                        </a:lnSpc>
                        <a:spcBef>
                          <a:spcPts val="0"/>
                        </a:spcBef>
                        <a:spcAft>
                          <a:spcPts val="0"/>
                        </a:spcAft>
                        <a:buNone/>
                      </a:pPr>
                      <a:r>
                        <a:rPr lang="en-GB" sz="800"/>
                        <a:t>complete</a:t>
                      </a:r>
                      <a:endParaRPr sz="800"/>
                    </a:p>
                  </a:txBody>
                  <a:tcPr marT="25400" marB="25400" marR="25400" marL="25400" anchor="ctr">
                    <a:solidFill>
                      <a:srgbClr val="D9EAD3"/>
                    </a:solidFill>
                  </a:tcPr>
                </a:tc>
              </a:tr>
              <a:tr h="190500">
                <a:tc>
                  <a:txBody>
                    <a:bodyPr/>
                    <a:lstStyle/>
                    <a:p>
                      <a:pPr indent="0" lvl="0" marL="0" rtl="0" algn="l">
                        <a:lnSpc>
                          <a:spcPct val="115000"/>
                        </a:lnSpc>
                        <a:spcBef>
                          <a:spcPts val="0"/>
                        </a:spcBef>
                        <a:spcAft>
                          <a:spcPts val="0"/>
                        </a:spcAft>
                        <a:buNone/>
                      </a:pPr>
                      <a:r>
                        <a:rPr b="1" lang="en-GB" sz="800"/>
                        <a:t>P1.4</a:t>
                      </a:r>
                      <a:endParaRPr b="1" sz="800"/>
                    </a:p>
                  </a:txBody>
                  <a:tcPr marT="25400" marB="25400" marR="25400" marL="25400" anchor="ctr">
                    <a:solidFill>
                      <a:srgbClr val="D9EAD3"/>
                    </a:solidFill>
                  </a:tcPr>
                </a:tc>
                <a:tc>
                  <a:txBody>
                    <a:bodyPr/>
                    <a:lstStyle/>
                    <a:p>
                      <a:pPr indent="0" lvl="0" marL="0" rtl="0" algn="l">
                        <a:lnSpc>
                          <a:spcPct val="115000"/>
                        </a:lnSpc>
                        <a:spcBef>
                          <a:spcPts val="0"/>
                        </a:spcBef>
                        <a:spcAft>
                          <a:spcPts val="0"/>
                        </a:spcAft>
                        <a:buNone/>
                      </a:pPr>
                      <a:r>
                        <a:rPr lang="en-GB" sz="800"/>
                        <a:t>Prototype implementation of its representation for usage patterns</a:t>
                      </a:r>
                      <a:endParaRPr sz="800"/>
                    </a:p>
                  </a:txBody>
                  <a:tcPr marT="25400" marB="25400" marR="25400" marL="25400" anchor="ctr">
                    <a:solidFill>
                      <a:srgbClr val="D9EAD3"/>
                    </a:solidFill>
                  </a:tcPr>
                </a:tc>
                <a:tc>
                  <a:txBody>
                    <a:bodyPr/>
                    <a:lstStyle/>
                    <a:p>
                      <a:pPr indent="0" lvl="0" marL="0" rtl="0" algn="ctr">
                        <a:lnSpc>
                          <a:spcPct val="115000"/>
                        </a:lnSpc>
                        <a:spcBef>
                          <a:spcPts val="0"/>
                        </a:spcBef>
                        <a:spcAft>
                          <a:spcPts val="0"/>
                        </a:spcAft>
                        <a:buNone/>
                      </a:pPr>
                      <a:r>
                        <a:rPr b="1" lang="en-GB" sz="800"/>
                        <a:t>M15</a:t>
                      </a:r>
                      <a:endParaRPr b="1" sz="800"/>
                    </a:p>
                  </a:txBody>
                  <a:tcPr marT="25400" marB="25400" marR="25400" marL="25400" anchor="ctr">
                    <a:solidFill>
                      <a:srgbClr val="D9EAD3"/>
                    </a:solidFill>
                  </a:tcPr>
                </a:tc>
                <a:tc>
                  <a:txBody>
                    <a:bodyPr/>
                    <a:lstStyle/>
                    <a:p>
                      <a:pPr indent="0" lvl="0" marL="0" rtl="0" algn="ctr">
                        <a:lnSpc>
                          <a:spcPct val="115000"/>
                        </a:lnSpc>
                        <a:spcBef>
                          <a:spcPts val="0"/>
                        </a:spcBef>
                        <a:spcAft>
                          <a:spcPts val="0"/>
                        </a:spcAft>
                        <a:buNone/>
                      </a:pPr>
                      <a:r>
                        <a:rPr lang="en-GB" sz="800"/>
                        <a:t>complete</a:t>
                      </a:r>
                      <a:endParaRPr sz="800"/>
                    </a:p>
                  </a:txBody>
                  <a:tcPr marT="25400" marB="25400" marR="25400" marL="25400" anchor="ctr">
                    <a:solidFill>
                      <a:srgbClr val="D9EAD3"/>
                    </a:solidFill>
                  </a:tcPr>
                </a:tc>
              </a:tr>
              <a:tr h="190500">
                <a:tc>
                  <a:txBody>
                    <a:bodyPr/>
                    <a:lstStyle/>
                    <a:p>
                      <a:pPr indent="0" lvl="0" marL="0" rtl="0" algn="l">
                        <a:lnSpc>
                          <a:spcPct val="115000"/>
                        </a:lnSpc>
                        <a:spcBef>
                          <a:spcPts val="0"/>
                        </a:spcBef>
                        <a:spcAft>
                          <a:spcPts val="0"/>
                        </a:spcAft>
                        <a:buNone/>
                      </a:pPr>
                      <a:r>
                        <a:rPr lang="en-GB" sz="800"/>
                        <a:t>P1.5</a:t>
                      </a:r>
                      <a:endParaRPr sz="800"/>
                    </a:p>
                  </a:txBody>
                  <a:tcPr marT="25400" marB="25400" marR="25400" marL="25400" anchor="ctr"/>
                </a:tc>
                <a:tc>
                  <a:txBody>
                    <a:bodyPr/>
                    <a:lstStyle/>
                    <a:p>
                      <a:pPr indent="0" lvl="0" marL="0" rtl="0" algn="l">
                        <a:lnSpc>
                          <a:spcPct val="115000"/>
                        </a:lnSpc>
                        <a:spcBef>
                          <a:spcPts val="0"/>
                        </a:spcBef>
                        <a:spcAft>
                          <a:spcPts val="0"/>
                        </a:spcAft>
                        <a:buNone/>
                      </a:pPr>
                      <a:r>
                        <a:rPr lang="en-GB" sz="800"/>
                        <a:t>Extension of meta-model and importer with support for change information</a:t>
                      </a:r>
                      <a:endParaRPr sz="800"/>
                    </a:p>
                  </a:txBody>
                  <a:tcPr marT="25400" marB="25400" marR="25400" marL="25400" anchor="ctr"/>
                </a:tc>
                <a:tc>
                  <a:txBody>
                    <a:bodyPr/>
                    <a:lstStyle/>
                    <a:p>
                      <a:pPr indent="0" lvl="0" marL="0" rtl="0" algn="ctr">
                        <a:lnSpc>
                          <a:spcPct val="115000"/>
                        </a:lnSpc>
                        <a:spcBef>
                          <a:spcPts val="0"/>
                        </a:spcBef>
                        <a:spcAft>
                          <a:spcPts val="0"/>
                        </a:spcAft>
                        <a:buNone/>
                      </a:pPr>
                      <a:r>
                        <a:rPr lang="en-GB" sz="800"/>
                        <a:t>M27</a:t>
                      </a:r>
                      <a:endParaRPr sz="800"/>
                    </a:p>
                  </a:txBody>
                  <a:tcPr marT="25400" marB="25400" marR="25400" marL="25400" anchor="ctr"/>
                </a:tc>
                <a:tc>
                  <a:txBody>
                    <a:bodyPr/>
                    <a:lstStyle/>
                    <a:p>
                      <a:pPr indent="0" lvl="0" marL="0" rtl="0" algn="l">
                        <a:lnSpc>
                          <a:spcPct val="115000"/>
                        </a:lnSpc>
                        <a:spcBef>
                          <a:spcPts val="0"/>
                        </a:spcBef>
                        <a:spcAft>
                          <a:spcPts val="0"/>
                        </a:spcAft>
                        <a:buNone/>
                      </a:pPr>
                      <a:r>
                        <a:t/>
                      </a:r>
                      <a:endParaRPr sz="800"/>
                    </a:p>
                  </a:txBody>
                  <a:tcPr marT="25400" marB="25400" marR="25400" marL="25400" anchor="ctr"/>
                </a:tc>
              </a:tr>
              <a:tr h="190500">
                <a:tc>
                  <a:txBody>
                    <a:bodyPr/>
                    <a:lstStyle/>
                    <a:p>
                      <a:pPr indent="0" lvl="0" marL="0" rtl="0" algn="l">
                        <a:lnSpc>
                          <a:spcPct val="115000"/>
                        </a:lnSpc>
                        <a:spcBef>
                          <a:spcPts val="0"/>
                        </a:spcBef>
                        <a:spcAft>
                          <a:spcPts val="0"/>
                        </a:spcAft>
                        <a:buNone/>
                      </a:pPr>
                      <a:r>
                        <a:rPr lang="en-GB" sz="800"/>
                        <a:t>P1.6</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800"/>
                        <a:t>Prototype implementation of its representation for edit patterns</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800"/>
                        <a:t>M27</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ctr">
                    <a:lnB cap="flat" cmpd="sng" w="9525">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b="1" lang="en-GB" sz="800"/>
                        <a:t>P2.1</a:t>
                      </a:r>
                      <a:endParaRPr b="1" sz="800"/>
                    </a:p>
                  </a:txBody>
                  <a:tcPr marT="25400" marB="25400" marR="25400" marL="25400" anchor="ctr">
                    <a:lnT cap="flat" cmpd="sng" w="9525">
                      <a:solidFill>
                        <a:srgbClr val="000000"/>
                      </a:solidFill>
                      <a:prstDash val="solid"/>
                      <a:round/>
                      <a:headEnd len="sm" w="sm" type="none"/>
                      <a:tailEnd len="sm" w="sm" type="none"/>
                    </a:lnT>
                    <a:solidFill>
                      <a:srgbClr val="EFEFEF"/>
                    </a:solidFill>
                  </a:tcPr>
                </a:tc>
                <a:tc>
                  <a:txBody>
                    <a:bodyPr/>
                    <a:lstStyle/>
                    <a:p>
                      <a:pPr indent="0" lvl="0" marL="0" rtl="0" algn="l">
                        <a:lnSpc>
                          <a:spcPct val="115000"/>
                        </a:lnSpc>
                        <a:spcBef>
                          <a:spcPts val="0"/>
                        </a:spcBef>
                        <a:spcAft>
                          <a:spcPts val="0"/>
                        </a:spcAft>
                        <a:buNone/>
                      </a:pPr>
                      <a:r>
                        <a:rPr lang="en-GB" sz="800"/>
                        <a:t>​Frequent subgraph mining system for discovering patterns in attributed graphs</a:t>
                      </a:r>
                      <a:endParaRPr sz="800"/>
                    </a:p>
                  </a:txBody>
                  <a:tcPr marT="25400" marB="25400" marR="25400" marL="25400" anchor="ctr">
                    <a:lnT cap="flat" cmpd="sng" w="9525">
                      <a:solidFill>
                        <a:srgbClr val="000000"/>
                      </a:solidFill>
                      <a:prstDash val="solid"/>
                      <a:round/>
                      <a:headEnd len="sm" w="sm" type="none"/>
                      <a:tailEnd len="sm" w="sm" type="none"/>
                    </a:lnT>
                    <a:solidFill>
                      <a:srgbClr val="EFEFEF"/>
                    </a:solidFill>
                  </a:tcPr>
                </a:tc>
                <a:tc>
                  <a:txBody>
                    <a:bodyPr/>
                    <a:lstStyle/>
                    <a:p>
                      <a:pPr indent="0" lvl="0" marL="0" rtl="0" algn="ctr">
                        <a:lnSpc>
                          <a:spcPct val="115000"/>
                        </a:lnSpc>
                        <a:spcBef>
                          <a:spcPts val="0"/>
                        </a:spcBef>
                        <a:spcAft>
                          <a:spcPts val="0"/>
                        </a:spcAft>
                        <a:buNone/>
                      </a:pPr>
                      <a:r>
                        <a:rPr b="1" lang="en-GB" sz="800"/>
                        <a:t>M06</a:t>
                      </a:r>
                      <a:endParaRPr b="1" sz="800"/>
                    </a:p>
                  </a:txBody>
                  <a:tcPr marT="25400" marB="25400" marR="25400" marL="25400" anchor="ctr">
                    <a:lnT cap="flat" cmpd="sng" w="9525">
                      <a:solidFill>
                        <a:srgbClr val="000000"/>
                      </a:solidFill>
                      <a:prstDash val="solid"/>
                      <a:round/>
                      <a:headEnd len="sm" w="sm" type="none"/>
                      <a:tailEnd len="sm" w="sm" type="none"/>
                    </a:lnT>
                    <a:solidFill>
                      <a:srgbClr val="EFEFEF"/>
                    </a:solidFill>
                  </a:tcPr>
                </a:tc>
                <a:tc>
                  <a:txBody>
                    <a:bodyPr/>
                    <a:lstStyle/>
                    <a:p>
                      <a:pPr indent="0" lvl="0" marL="0" rtl="0" algn="ctr">
                        <a:lnSpc>
                          <a:spcPct val="115000"/>
                        </a:lnSpc>
                        <a:spcBef>
                          <a:spcPts val="0"/>
                        </a:spcBef>
                        <a:spcAft>
                          <a:spcPts val="0"/>
                        </a:spcAft>
                        <a:buNone/>
                      </a:pPr>
                      <a:r>
                        <a:rPr lang="en-GB" sz="800"/>
                        <a:t>complete</a:t>
                      </a:r>
                      <a:endParaRPr sz="800"/>
                    </a:p>
                  </a:txBody>
                  <a:tcPr marT="25400" marB="25400" marR="25400" marL="25400" anchor="ctr">
                    <a:lnT cap="flat" cmpd="sng" w="9525">
                      <a:solidFill>
                        <a:srgbClr val="000000"/>
                      </a:solidFill>
                      <a:prstDash val="solid"/>
                      <a:round/>
                      <a:headEnd len="sm" w="sm" type="none"/>
                      <a:tailEnd len="sm" w="sm" type="none"/>
                    </a:lnT>
                    <a:solidFill>
                      <a:srgbClr val="EFEFEF"/>
                    </a:solidFill>
                  </a:tcPr>
                </a:tc>
              </a:tr>
              <a:tr h="317500">
                <a:tc>
                  <a:txBody>
                    <a:bodyPr/>
                    <a:lstStyle/>
                    <a:p>
                      <a:pPr indent="0" lvl="0" marL="0" rtl="0" algn="l">
                        <a:lnSpc>
                          <a:spcPct val="115000"/>
                        </a:lnSpc>
                        <a:spcBef>
                          <a:spcPts val="0"/>
                        </a:spcBef>
                        <a:spcAft>
                          <a:spcPts val="0"/>
                        </a:spcAft>
                        <a:buNone/>
                      </a:pPr>
                      <a:r>
                        <a:rPr b="1" lang="en-GB" sz="800"/>
                        <a:t>R2.2</a:t>
                      </a:r>
                      <a:endParaRPr b="1" sz="800"/>
                    </a:p>
                  </a:txBody>
                  <a:tcPr marT="25400" marB="25400" marR="25400" marL="25400" anchor="ctr">
                    <a:solidFill>
                      <a:srgbClr val="D9EAD3"/>
                    </a:solidFill>
                  </a:tcPr>
                </a:tc>
                <a:tc>
                  <a:txBody>
                    <a:bodyPr/>
                    <a:lstStyle/>
                    <a:p>
                      <a:pPr indent="0" lvl="0" marL="0" rtl="0" algn="l">
                        <a:lnSpc>
                          <a:spcPct val="115000"/>
                        </a:lnSpc>
                        <a:spcBef>
                          <a:spcPts val="0"/>
                        </a:spcBef>
                        <a:spcAft>
                          <a:spcPts val="0"/>
                        </a:spcAft>
                        <a:buNone/>
                      </a:pPr>
                      <a:r>
                        <a:rPr lang="en-GB" sz="800"/>
                        <a:t>Report on its application to mining for ​coding conventions &amp; idioms in ​syntactic information </a:t>
                      </a:r>
                      <a:endParaRPr sz="800"/>
                    </a:p>
                  </a:txBody>
                  <a:tcPr marT="25400" marB="25400" marR="25400" marL="25400" anchor="ctr">
                    <a:solidFill>
                      <a:srgbClr val="D9EAD3"/>
                    </a:solidFill>
                  </a:tcPr>
                </a:tc>
                <a:tc>
                  <a:txBody>
                    <a:bodyPr/>
                    <a:lstStyle/>
                    <a:p>
                      <a:pPr indent="0" lvl="0" marL="0" rtl="0" algn="ctr">
                        <a:lnSpc>
                          <a:spcPct val="115000"/>
                        </a:lnSpc>
                        <a:spcBef>
                          <a:spcPts val="0"/>
                        </a:spcBef>
                        <a:spcAft>
                          <a:spcPts val="0"/>
                        </a:spcAft>
                        <a:buNone/>
                      </a:pPr>
                      <a:r>
                        <a:rPr b="1" lang="en-GB" sz="800"/>
                        <a:t>M06 M12</a:t>
                      </a:r>
                      <a:endParaRPr b="1" sz="800"/>
                    </a:p>
                  </a:txBody>
                  <a:tcPr marT="25400" marB="25400" marR="25400" marL="25400" anchor="ctr">
                    <a:solidFill>
                      <a:srgbClr val="D9EAD3"/>
                    </a:solidFill>
                  </a:tcPr>
                </a:tc>
                <a:tc>
                  <a:txBody>
                    <a:bodyPr/>
                    <a:lstStyle/>
                    <a:p>
                      <a:pPr indent="0" lvl="0" marL="0" rtl="0" algn="ctr">
                        <a:lnSpc>
                          <a:spcPct val="115000"/>
                        </a:lnSpc>
                        <a:spcBef>
                          <a:spcPts val="0"/>
                        </a:spcBef>
                        <a:spcAft>
                          <a:spcPts val="0"/>
                        </a:spcAft>
                        <a:buNone/>
                      </a:pPr>
                      <a:r>
                        <a:rPr lang="en-GB" sz="800"/>
                        <a:t>complete</a:t>
                      </a:r>
                      <a:endParaRPr sz="800"/>
                    </a:p>
                  </a:txBody>
                  <a:tcPr marT="25400" marB="25400" marR="25400" marL="25400" anchor="ctr">
                    <a:solidFill>
                      <a:srgbClr val="D9EAD3"/>
                    </a:solidFill>
                  </a:tcPr>
                </a:tc>
              </a:tr>
              <a:tr h="190500">
                <a:tc>
                  <a:txBody>
                    <a:bodyPr/>
                    <a:lstStyle/>
                    <a:p>
                      <a:pPr indent="0" lvl="0" marL="0" rtl="0" algn="l">
                        <a:lnSpc>
                          <a:spcPct val="115000"/>
                        </a:lnSpc>
                        <a:spcBef>
                          <a:spcPts val="0"/>
                        </a:spcBef>
                        <a:spcAft>
                          <a:spcPts val="0"/>
                        </a:spcAft>
                        <a:buNone/>
                      </a:pPr>
                      <a:r>
                        <a:rPr b="1" lang="en-GB" sz="800"/>
                        <a:t>P2.3</a:t>
                      </a:r>
                      <a:endParaRPr b="1" sz="800"/>
                    </a:p>
                  </a:txBody>
                  <a:tcPr marT="25400" marB="25400" marR="25400" marL="25400" anchor="ctr">
                    <a:solidFill>
                      <a:srgbClr val="D9EAD3"/>
                    </a:solidFill>
                  </a:tcPr>
                </a:tc>
                <a:tc>
                  <a:txBody>
                    <a:bodyPr/>
                    <a:lstStyle/>
                    <a:p>
                      <a:pPr indent="0" lvl="0" marL="0" rtl="0" algn="l">
                        <a:lnSpc>
                          <a:spcPct val="115000"/>
                        </a:lnSpc>
                        <a:spcBef>
                          <a:spcPts val="0"/>
                        </a:spcBef>
                        <a:spcAft>
                          <a:spcPts val="0"/>
                        </a:spcAft>
                        <a:buNone/>
                      </a:pPr>
                      <a:r>
                        <a:rPr lang="en-GB" sz="800"/>
                        <a:t>Adaptation of the frequent subgraph mining algorithm to support usage patterns</a:t>
                      </a:r>
                      <a:endParaRPr sz="800"/>
                    </a:p>
                  </a:txBody>
                  <a:tcPr marT="25400" marB="25400" marR="25400" marL="25400" anchor="ctr">
                    <a:solidFill>
                      <a:srgbClr val="D9EAD3"/>
                    </a:solidFill>
                  </a:tcPr>
                </a:tc>
                <a:tc>
                  <a:txBody>
                    <a:bodyPr/>
                    <a:lstStyle/>
                    <a:p>
                      <a:pPr indent="0" lvl="0" marL="0" rtl="0" algn="ctr">
                        <a:lnSpc>
                          <a:spcPct val="115000"/>
                        </a:lnSpc>
                        <a:spcBef>
                          <a:spcPts val="0"/>
                        </a:spcBef>
                        <a:spcAft>
                          <a:spcPts val="0"/>
                        </a:spcAft>
                        <a:buNone/>
                      </a:pPr>
                      <a:r>
                        <a:rPr b="1" lang="en-GB" sz="800"/>
                        <a:t>M18</a:t>
                      </a:r>
                      <a:endParaRPr b="1" sz="800"/>
                    </a:p>
                  </a:txBody>
                  <a:tcPr marT="25400" marB="25400" marR="25400" marL="25400" anchor="ctr">
                    <a:solidFill>
                      <a:srgbClr val="D9EAD3"/>
                    </a:solidFill>
                  </a:tcPr>
                </a:tc>
                <a:tc>
                  <a:txBody>
                    <a:bodyPr/>
                    <a:lstStyle/>
                    <a:p>
                      <a:pPr indent="0" lvl="0" marL="0" rtl="0" algn="ctr">
                        <a:lnSpc>
                          <a:spcPct val="115000"/>
                        </a:lnSpc>
                        <a:spcBef>
                          <a:spcPts val="0"/>
                        </a:spcBef>
                        <a:spcAft>
                          <a:spcPts val="0"/>
                        </a:spcAft>
                        <a:buNone/>
                      </a:pPr>
                      <a:r>
                        <a:rPr lang="en-GB" sz="800"/>
                        <a:t>complete</a:t>
                      </a:r>
                      <a:endParaRPr sz="800"/>
                    </a:p>
                  </a:txBody>
                  <a:tcPr marT="25400" marB="25400" marR="25400" marL="25400" anchor="ctr">
                    <a:solidFill>
                      <a:srgbClr val="D9EAD3"/>
                    </a:solidFill>
                  </a:tcPr>
                </a:tc>
              </a:tr>
              <a:tr h="330200">
                <a:tc>
                  <a:txBody>
                    <a:bodyPr/>
                    <a:lstStyle/>
                    <a:p>
                      <a:pPr indent="0" lvl="0" marL="0" rtl="0" algn="l">
                        <a:lnSpc>
                          <a:spcPct val="115000"/>
                        </a:lnSpc>
                        <a:spcBef>
                          <a:spcPts val="0"/>
                        </a:spcBef>
                        <a:spcAft>
                          <a:spcPts val="0"/>
                        </a:spcAft>
                        <a:buNone/>
                      </a:pPr>
                      <a:r>
                        <a:rPr lang="en-GB" sz="800"/>
                        <a:t>R2.4</a:t>
                      </a:r>
                      <a:endParaRPr sz="800"/>
                    </a:p>
                  </a:txBody>
                  <a:tcPr marT="25400" marB="25400" marR="25400" marL="25400" anchor="ctr"/>
                </a:tc>
                <a:tc>
                  <a:txBody>
                    <a:bodyPr/>
                    <a:lstStyle/>
                    <a:p>
                      <a:pPr indent="0" lvl="0" marL="0" rtl="0" algn="l">
                        <a:lnSpc>
                          <a:spcPct val="115000"/>
                        </a:lnSpc>
                        <a:spcBef>
                          <a:spcPts val="0"/>
                        </a:spcBef>
                        <a:spcAft>
                          <a:spcPts val="0"/>
                        </a:spcAft>
                        <a:buNone/>
                      </a:pPr>
                      <a:r>
                        <a:rPr lang="en-GB" sz="800"/>
                        <a:t>Report on its application to mining for ​usage patterns in ​semantic ​information </a:t>
                      </a:r>
                      <a:endParaRPr sz="800"/>
                    </a:p>
                  </a:txBody>
                  <a:tcPr marT="25400" marB="25400" marR="25400" marL="25400" anchor="ctr"/>
                </a:tc>
                <a:tc>
                  <a:txBody>
                    <a:bodyPr/>
                    <a:lstStyle/>
                    <a:p>
                      <a:pPr indent="0" lvl="0" marL="0" rtl="0" algn="ctr">
                        <a:lnSpc>
                          <a:spcPct val="115000"/>
                        </a:lnSpc>
                        <a:spcBef>
                          <a:spcPts val="0"/>
                        </a:spcBef>
                        <a:spcAft>
                          <a:spcPts val="0"/>
                        </a:spcAft>
                        <a:buNone/>
                      </a:pPr>
                      <a:r>
                        <a:rPr lang="en-GB" sz="800"/>
                        <a:t>M24</a:t>
                      </a:r>
                      <a:endParaRPr sz="800"/>
                    </a:p>
                  </a:txBody>
                  <a:tcPr marT="25400" marB="25400" marR="25400" marL="25400" anchor="ctr"/>
                </a:tc>
                <a:tc>
                  <a:txBody>
                    <a:bodyPr/>
                    <a:lstStyle/>
                    <a:p>
                      <a:pPr indent="0" lvl="0" marL="0" rtl="0" algn="l">
                        <a:lnSpc>
                          <a:spcPct val="115000"/>
                        </a:lnSpc>
                        <a:spcBef>
                          <a:spcPts val="0"/>
                        </a:spcBef>
                        <a:spcAft>
                          <a:spcPts val="0"/>
                        </a:spcAft>
                        <a:buNone/>
                      </a:pPr>
                      <a:r>
                        <a:t/>
                      </a:r>
                      <a:endParaRPr sz="800"/>
                    </a:p>
                  </a:txBody>
                  <a:tcPr marT="25400" marB="25400" marR="25400" marL="25400" anchor="ctr"/>
                </a:tc>
              </a:tr>
              <a:tr h="190500">
                <a:tc>
                  <a:txBody>
                    <a:bodyPr/>
                    <a:lstStyle/>
                    <a:p>
                      <a:pPr indent="0" lvl="0" marL="0" rtl="0" algn="l">
                        <a:lnSpc>
                          <a:spcPct val="115000"/>
                        </a:lnSpc>
                        <a:spcBef>
                          <a:spcPts val="0"/>
                        </a:spcBef>
                        <a:spcAft>
                          <a:spcPts val="0"/>
                        </a:spcAft>
                        <a:buNone/>
                      </a:pPr>
                      <a:r>
                        <a:rPr lang="en-GB" sz="800"/>
                        <a:t>P2.5</a:t>
                      </a:r>
                      <a:endParaRPr sz="800"/>
                    </a:p>
                  </a:txBody>
                  <a:tcPr marT="25400" marB="25400" marR="25400" marL="25400" anchor="ctr"/>
                </a:tc>
                <a:tc>
                  <a:txBody>
                    <a:bodyPr/>
                    <a:lstStyle/>
                    <a:p>
                      <a:pPr indent="0" lvl="0" marL="0" rtl="0" algn="l">
                        <a:lnSpc>
                          <a:spcPct val="115000"/>
                        </a:lnSpc>
                        <a:spcBef>
                          <a:spcPts val="0"/>
                        </a:spcBef>
                        <a:spcAft>
                          <a:spcPts val="0"/>
                        </a:spcAft>
                        <a:buNone/>
                      </a:pPr>
                      <a:r>
                        <a:rPr lang="en-GB" sz="800"/>
                        <a:t>Adaptation of the frequent subgraph mining algorithm to support edit patterns</a:t>
                      </a:r>
                      <a:endParaRPr sz="800"/>
                    </a:p>
                  </a:txBody>
                  <a:tcPr marT="25400" marB="25400" marR="25400" marL="25400" anchor="ctr"/>
                </a:tc>
                <a:tc>
                  <a:txBody>
                    <a:bodyPr/>
                    <a:lstStyle/>
                    <a:p>
                      <a:pPr indent="0" lvl="0" marL="0" rtl="0" algn="ctr">
                        <a:lnSpc>
                          <a:spcPct val="115000"/>
                        </a:lnSpc>
                        <a:spcBef>
                          <a:spcPts val="0"/>
                        </a:spcBef>
                        <a:spcAft>
                          <a:spcPts val="0"/>
                        </a:spcAft>
                        <a:buNone/>
                      </a:pPr>
                      <a:r>
                        <a:rPr lang="en-GB" sz="800"/>
                        <a:t>M30</a:t>
                      </a:r>
                      <a:endParaRPr sz="800"/>
                    </a:p>
                  </a:txBody>
                  <a:tcPr marT="25400" marB="25400" marR="25400" marL="25400" anchor="ctr"/>
                </a:tc>
                <a:tc>
                  <a:txBody>
                    <a:bodyPr/>
                    <a:lstStyle/>
                    <a:p>
                      <a:pPr indent="0" lvl="0" marL="0" rtl="0" algn="l">
                        <a:lnSpc>
                          <a:spcPct val="115000"/>
                        </a:lnSpc>
                        <a:spcBef>
                          <a:spcPts val="0"/>
                        </a:spcBef>
                        <a:spcAft>
                          <a:spcPts val="0"/>
                        </a:spcAft>
                        <a:buNone/>
                      </a:pPr>
                      <a:r>
                        <a:t/>
                      </a:r>
                      <a:endParaRPr sz="800"/>
                    </a:p>
                  </a:txBody>
                  <a:tcPr marT="25400" marB="25400" marR="25400" marL="25400" anchor="ctr"/>
                </a:tc>
              </a:tr>
              <a:tr h="330200">
                <a:tc>
                  <a:txBody>
                    <a:bodyPr/>
                    <a:lstStyle/>
                    <a:p>
                      <a:pPr indent="0" lvl="0" marL="0" rtl="0" algn="l">
                        <a:lnSpc>
                          <a:spcPct val="115000"/>
                        </a:lnSpc>
                        <a:spcBef>
                          <a:spcPts val="0"/>
                        </a:spcBef>
                        <a:spcAft>
                          <a:spcPts val="0"/>
                        </a:spcAft>
                        <a:buNone/>
                      </a:pPr>
                      <a:r>
                        <a:rPr lang="en-GB" sz="800"/>
                        <a:t>R2.6</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800"/>
                        <a:t>Report on its application to mining for ​edit patterns in ​change information </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800"/>
                        <a:t>M36</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ctr">
                    <a:lnB cap="flat" cmpd="sng" w="9525">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b="1" lang="en-GB" sz="800"/>
                        <a:t>P3.1</a:t>
                      </a:r>
                      <a:endParaRPr b="1" sz="800"/>
                    </a:p>
                  </a:txBody>
                  <a:tcPr marT="25400" marB="25400" marR="25400" marL="25400" anchor="ctr">
                    <a:lnT cap="flat" cmpd="sng" w="9525">
                      <a:solidFill>
                        <a:srgbClr val="000000"/>
                      </a:solidFill>
                      <a:prstDash val="solid"/>
                      <a:round/>
                      <a:headEnd len="sm" w="sm" type="none"/>
                      <a:tailEnd len="sm" w="sm" type="none"/>
                    </a:lnT>
                    <a:solidFill>
                      <a:srgbClr val="EFEFEF"/>
                    </a:solidFill>
                  </a:tcPr>
                </a:tc>
                <a:tc>
                  <a:txBody>
                    <a:bodyPr/>
                    <a:lstStyle/>
                    <a:p>
                      <a:pPr indent="0" lvl="0" marL="0" rtl="0" algn="l">
                        <a:lnSpc>
                          <a:spcPct val="115000"/>
                        </a:lnSpc>
                        <a:spcBef>
                          <a:spcPts val="0"/>
                        </a:spcBef>
                        <a:spcAft>
                          <a:spcPts val="0"/>
                        </a:spcAft>
                        <a:buNone/>
                      </a:pPr>
                      <a:r>
                        <a:rPr lang="en-GB" sz="800"/>
                        <a:t>Prototype offering assistance for program comprehension in the form of a browser for mined patterns</a:t>
                      </a:r>
                      <a:endParaRPr sz="800"/>
                    </a:p>
                  </a:txBody>
                  <a:tcPr marT="25400" marB="25400" marR="25400" marL="25400" anchor="ctr">
                    <a:lnT cap="flat" cmpd="sng" w="9525">
                      <a:solidFill>
                        <a:srgbClr val="000000"/>
                      </a:solidFill>
                      <a:prstDash val="solid"/>
                      <a:round/>
                      <a:headEnd len="sm" w="sm" type="none"/>
                      <a:tailEnd len="sm" w="sm" type="none"/>
                    </a:lnT>
                    <a:solidFill>
                      <a:srgbClr val="EFEFEF"/>
                    </a:solidFill>
                  </a:tcPr>
                </a:tc>
                <a:tc>
                  <a:txBody>
                    <a:bodyPr/>
                    <a:lstStyle/>
                    <a:p>
                      <a:pPr indent="0" lvl="0" marL="0" rtl="0" algn="ctr">
                        <a:lnSpc>
                          <a:spcPct val="115000"/>
                        </a:lnSpc>
                        <a:spcBef>
                          <a:spcPts val="0"/>
                        </a:spcBef>
                        <a:spcAft>
                          <a:spcPts val="0"/>
                        </a:spcAft>
                        <a:buNone/>
                      </a:pPr>
                      <a:r>
                        <a:rPr b="1" lang="en-GB" sz="800"/>
                        <a:t>M09</a:t>
                      </a:r>
                      <a:endParaRPr b="1" sz="800"/>
                    </a:p>
                  </a:txBody>
                  <a:tcPr marT="25400" marB="25400" marR="25400" marL="25400" anchor="ctr">
                    <a:lnT cap="flat" cmpd="sng" w="9525">
                      <a:solidFill>
                        <a:srgbClr val="000000"/>
                      </a:solidFill>
                      <a:prstDash val="solid"/>
                      <a:round/>
                      <a:headEnd len="sm" w="sm" type="none"/>
                      <a:tailEnd len="sm" w="sm" type="none"/>
                    </a:lnT>
                    <a:solidFill>
                      <a:srgbClr val="EFEFEF"/>
                    </a:solidFill>
                  </a:tcPr>
                </a:tc>
                <a:tc>
                  <a:txBody>
                    <a:bodyPr/>
                    <a:lstStyle/>
                    <a:p>
                      <a:pPr indent="0" lvl="0" marL="0" rtl="0" algn="ctr">
                        <a:lnSpc>
                          <a:spcPct val="115000"/>
                        </a:lnSpc>
                        <a:spcBef>
                          <a:spcPts val="0"/>
                        </a:spcBef>
                        <a:spcAft>
                          <a:spcPts val="0"/>
                        </a:spcAft>
                        <a:buNone/>
                      </a:pPr>
                      <a:r>
                        <a:rPr lang="en-GB" sz="800"/>
                        <a:t>complete</a:t>
                      </a:r>
                      <a:endParaRPr sz="800"/>
                    </a:p>
                  </a:txBody>
                  <a:tcPr marT="25400" marB="25400" marR="25400" marL="25400" anchor="ctr">
                    <a:lnT cap="flat" cmpd="sng" w="9525">
                      <a:solidFill>
                        <a:srgbClr val="000000"/>
                      </a:solidFill>
                      <a:prstDash val="solid"/>
                      <a:round/>
                      <a:headEnd len="sm" w="sm" type="none"/>
                      <a:tailEnd len="sm" w="sm" type="none"/>
                    </a:lnT>
                    <a:solidFill>
                      <a:srgbClr val="EFEFEF"/>
                    </a:solidFill>
                  </a:tcPr>
                </a:tc>
              </a:tr>
              <a:tr h="330200">
                <a:tc>
                  <a:txBody>
                    <a:bodyPr/>
                    <a:lstStyle/>
                    <a:p>
                      <a:pPr indent="0" lvl="0" marL="0" rtl="0" algn="l">
                        <a:lnSpc>
                          <a:spcPct val="115000"/>
                        </a:lnSpc>
                        <a:spcBef>
                          <a:spcPts val="0"/>
                        </a:spcBef>
                        <a:spcAft>
                          <a:spcPts val="0"/>
                        </a:spcAft>
                        <a:buNone/>
                      </a:pPr>
                      <a:r>
                        <a:rPr lang="en-GB" sz="800"/>
                        <a:t>P3.2</a:t>
                      </a:r>
                      <a:endParaRPr sz="800"/>
                    </a:p>
                  </a:txBody>
                  <a:tcPr marT="25400" marB="25400" marR="25400" marL="25400" anchor="ctr"/>
                </a:tc>
                <a:tc>
                  <a:txBody>
                    <a:bodyPr/>
                    <a:lstStyle/>
                    <a:p>
                      <a:pPr indent="0" lvl="0" marL="0" rtl="0" algn="l">
                        <a:lnSpc>
                          <a:spcPct val="115000"/>
                        </a:lnSpc>
                        <a:spcBef>
                          <a:spcPts val="0"/>
                        </a:spcBef>
                        <a:spcAft>
                          <a:spcPts val="0"/>
                        </a:spcAft>
                        <a:buNone/>
                      </a:pPr>
                      <a:r>
                        <a:rPr lang="en-GB" sz="800"/>
                        <a:t>Prototype offering assistance for anomaly detection in the form of a browser for partial matches of mined patterns</a:t>
                      </a:r>
                      <a:endParaRPr sz="800"/>
                    </a:p>
                  </a:txBody>
                  <a:tcPr marT="25400" marB="25400" marR="25400" marL="25400" anchor="ctr"/>
                </a:tc>
                <a:tc>
                  <a:txBody>
                    <a:bodyPr/>
                    <a:lstStyle/>
                    <a:p>
                      <a:pPr indent="0" lvl="0" marL="0" rtl="0" algn="ctr">
                        <a:lnSpc>
                          <a:spcPct val="115000"/>
                        </a:lnSpc>
                        <a:spcBef>
                          <a:spcPts val="0"/>
                        </a:spcBef>
                        <a:spcAft>
                          <a:spcPts val="0"/>
                        </a:spcAft>
                        <a:buNone/>
                      </a:pPr>
                      <a:r>
                        <a:rPr lang="en-GB" sz="800"/>
                        <a:t>M21</a:t>
                      </a:r>
                      <a:endParaRPr sz="800"/>
                    </a:p>
                  </a:txBody>
                  <a:tcPr marT="25400" marB="25400" marR="25400" marL="25400" anchor="ctr"/>
                </a:tc>
                <a:tc>
                  <a:txBody>
                    <a:bodyPr/>
                    <a:lstStyle/>
                    <a:p>
                      <a:pPr indent="0" lvl="0" marL="0" rtl="0" algn="l">
                        <a:lnSpc>
                          <a:spcPct val="115000"/>
                        </a:lnSpc>
                        <a:spcBef>
                          <a:spcPts val="0"/>
                        </a:spcBef>
                        <a:spcAft>
                          <a:spcPts val="0"/>
                        </a:spcAft>
                        <a:buNone/>
                      </a:pPr>
                      <a:r>
                        <a:t/>
                      </a:r>
                      <a:endParaRPr sz="800"/>
                    </a:p>
                  </a:txBody>
                  <a:tcPr marT="25400" marB="25400" marR="25400" marL="25400" anchor="ctr"/>
                </a:tc>
              </a:tr>
              <a:tr h="330200">
                <a:tc>
                  <a:txBody>
                    <a:bodyPr/>
                    <a:lstStyle/>
                    <a:p>
                      <a:pPr indent="0" lvl="0" marL="0" rtl="0" algn="l">
                        <a:lnSpc>
                          <a:spcPct val="115000"/>
                        </a:lnSpc>
                        <a:spcBef>
                          <a:spcPts val="0"/>
                        </a:spcBef>
                        <a:spcAft>
                          <a:spcPts val="0"/>
                        </a:spcAft>
                        <a:buNone/>
                      </a:pPr>
                      <a:r>
                        <a:rPr lang="en-GB" sz="800"/>
                        <a:t>P3.3</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800"/>
                        <a:t>Prototype offering assistance for program modernisation in the form of edit recommendations that complete a partial match for a mined pattern</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800"/>
                        <a:t>M33</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25400" marB="25400" marR="25400" marL="25400" anchor="ctr">
                    <a:lnB cap="flat" cmpd="sng" w="9525">
                      <a:solidFill>
                        <a:srgbClr val="000000"/>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b="1" lang="en-GB" sz="800"/>
                        <a:t>P0.1</a:t>
                      </a:r>
                      <a:endParaRPr b="1" sz="800"/>
                    </a:p>
                  </a:txBody>
                  <a:tcPr marT="25400" marB="25400" marR="25400" marL="25400" anchor="ctr">
                    <a:lnT cap="flat" cmpd="sng" w="9525">
                      <a:solidFill>
                        <a:srgbClr val="000000"/>
                      </a:solidFill>
                      <a:prstDash val="solid"/>
                      <a:round/>
                      <a:headEnd len="sm" w="sm" type="none"/>
                      <a:tailEnd len="sm" w="sm" type="none"/>
                    </a:lnT>
                    <a:solidFill>
                      <a:srgbClr val="F3F3F3"/>
                    </a:solidFill>
                  </a:tcPr>
                </a:tc>
                <a:tc>
                  <a:txBody>
                    <a:bodyPr/>
                    <a:lstStyle/>
                    <a:p>
                      <a:pPr indent="0" lvl="0" marL="0" rtl="0" algn="l">
                        <a:lnSpc>
                          <a:spcPct val="115000"/>
                        </a:lnSpc>
                        <a:spcBef>
                          <a:spcPts val="0"/>
                        </a:spcBef>
                        <a:spcAft>
                          <a:spcPts val="0"/>
                        </a:spcAft>
                        <a:buNone/>
                      </a:pPr>
                      <a:r>
                        <a:rPr lang="en-GB" sz="800"/>
                        <a:t>Prototype of legacy software importer ​(syntactic information) ​for the INTiMALS meta-model</a:t>
                      </a:r>
                      <a:endParaRPr sz="800"/>
                    </a:p>
                  </a:txBody>
                  <a:tcPr marT="25400" marB="25400" marR="25400" marL="25400" anchor="ctr">
                    <a:lnT cap="flat" cmpd="sng" w="9525">
                      <a:solidFill>
                        <a:srgbClr val="000000"/>
                      </a:solidFill>
                      <a:prstDash val="solid"/>
                      <a:round/>
                      <a:headEnd len="sm" w="sm" type="none"/>
                      <a:tailEnd len="sm" w="sm" type="none"/>
                    </a:lnT>
                    <a:solidFill>
                      <a:srgbClr val="F3F3F3"/>
                    </a:solidFill>
                  </a:tcPr>
                </a:tc>
                <a:tc>
                  <a:txBody>
                    <a:bodyPr/>
                    <a:lstStyle/>
                    <a:p>
                      <a:pPr indent="0" lvl="0" marL="0" rtl="0" algn="ctr">
                        <a:lnSpc>
                          <a:spcPct val="115000"/>
                        </a:lnSpc>
                        <a:spcBef>
                          <a:spcPts val="0"/>
                        </a:spcBef>
                        <a:spcAft>
                          <a:spcPts val="0"/>
                        </a:spcAft>
                        <a:buNone/>
                      </a:pPr>
                      <a:r>
                        <a:rPr b="1" lang="en-GB" sz="800"/>
                        <a:t>M04</a:t>
                      </a:r>
                      <a:endParaRPr b="1" sz="800"/>
                    </a:p>
                  </a:txBody>
                  <a:tcPr marT="25400" marB="25400" marR="25400" marL="25400" anchor="ctr">
                    <a:lnT cap="flat" cmpd="sng" w="9525">
                      <a:solidFill>
                        <a:srgbClr val="000000"/>
                      </a:solidFill>
                      <a:prstDash val="solid"/>
                      <a:round/>
                      <a:headEnd len="sm" w="sm" type="none"/>
                      <a:tailEnd len="sm" w="sm" type="none"/>
                    </a:lnT>
                    <a:solidFill>
                      <a:srgbClr val="F3F3F3"/>
                    </a:solidFill>
                  </a:tcPr>
                </a:tc>
                <a:tc>
                  <a:txBody>
                    <a:bodyPr/>
                    <a:lstStyle/>
                    <a:p>
                      <a:pPr indent="0" lvl="0" marL="0" rtl="0" algn="ctr">
                        <a:lnSpc>
                          <a:spcPct val="115000"/>
                        </a:lnSpc>
                        <a:spcBef>
                          <a:spcPts val="0"/>
                        </a:spcBef>
                        <a:spcAft>
                          <a:spcPts val="0"/>
                        </a:spcAft>
                        <a:buNone/>
                      </a:pPr>
                      <a:r>
                        <a:rPr lang="en-GB" sz="800"/>
                        <a:t>complete</a:t>
                      </a:r>
                      <a:endParaRPr sz="800"/>
                    </a:p>
                  </a:txBody>
                  <a:tcPr marT="25400" marB="25400" marR="25400" marL="25400" anchor="ctr">
                    <a:lnT cap="flat" cmpd="sng" w="9525">
                      <a:solidFill>
                        <a:srgbClr val="000000"/>
                      </a:solidFill>
                      <a:prstDash val="solid"/>
                      <a:round/>
                      <a:headEnd len="sm" w="sm" type="none"/>
                      <a:tailEnd len="sm" w="sm" type="none"/>
                    </a:lnT>
                    <a:solidFill>
                      <a:srgbClr val="F3F3F3"/>
                    </a:solidFill>
                  </a:tcPr>
                </a:tc>
              </a:tr>
              <a:tr h="292100">
                <a:tc>
                  <a:txBody>
                    <a:bodyPr/>
                    <a:lstStyle/>
                    <a:p>
                      <a:pPr indent="0" lvl="0" marL="0" rtl="0" algn="l">
                        <a:lnSpc>
                          <a:spcPct val="115000"/>
                        </a:lnSpc>
                        <a:spcBef>
                          <a:spcPts val="0"/>
                        </a:spcBef>
                        <a:spcAft>
                          <a:spcPts val="0"/>
                        </a:spcAft>
                        <a:buNone/>
                      </a:pPr>
                      <a:r>
                        <a:rPr b="1" lang="en-GB" sz="800"/>
                        <a:t>R0.2</a:t>
                      </a:r>
                      <a:endParaRPr b="1" sz="800"/>
                    </a:p>
                  </a:txBody>
                  <a:tcPr marT="25400" marB="25400" marR="25400" marL="25400" anchor="ctr">
                    <a:solidFill>
                      <a:srgbClr val="D9EAD3"/>
                    </a:solidFill>
                  </a:tcPr>
                </a:tc>
                <a:tc>
                  <a:txBody>
                    <a:bodyPr/>
                    <a:lstStyle/>
                    <a:p>
                      <a:pPr indent="0" lvl="0" marL="0" rtl="0" algn="l">
                        <a:lnSpc>
                          <a:spcPct val="115000"/>
                        </a:lnSpc>
                        <a:spcBef>
                          <a:spcPts val="0"/>
                        </a:spcBef>
                        <a:spcAft>
                          <a:spcPts val="0"/>
                        </a:spcAft>
                        <a:buNone/>
                      </a:pPr>
                      <a:r>
                        <a:rPr lang="en-GB" sz="800"/>
                        <a:t>Report on the evaluation of INTiMALS’ support for mining coding conventions &amp; idioms in legacy systems</a:t>
                      </a:r>
                      <a:endParaRPr sz="800"/>
                    </a:p>
                  </a:txBody>
                  <a:tcPr marT="25400" marB="25400" marR="25400" marL="25400" anchor="ctr">
                    <a:solidFill>
                      <a:srgbClr val="D9EAD3"/>
                    </a:solidFill>
                  </a:tcPr>
                </a:tc>
                <a:tc>
                  <a:txBody>
                    <a:bodyPr/>
                    <a:lstStyle/>
                    <a:p>
                      <a:pPr indent="0" lvl="0" marL="0" rtl="0" algn="ctr">
                        <a:lnSpc>
                          <a:spcPct val="115000"/>
                        </a:lnSpc>
                        <a:spcBef>
                          <a:spcPts val="0"/>
                        </a:spcBef>
                        <a:spcAft>
                          <a:spcPts val="0"/>
                        </a:spcAft>
                        <a:buNone/>
                      </a:pPr>
                      <a:r>
                        <a:rPr b="1" lang="en-GB" sz="800"/>
                        <a:t>M07- M12</a:t>
                      </a:r>
                      <a:endParaRPr b="1" sz="800"/>
                    </a:p>
                  </a:txBody>
                  <a:tcPr marT="25400" marB="25400" marR="25400" marL="25400" anchor="ctr">
                    <a:solidFill>
                      <a:srgbClr val="D9EAD3"/>
                    </a:solidFill>
                  </a:tcPr>
                </a:tc>
                <a:tc>
                  <a:txBody>
                    <a:bodyPr/>
                    <a:lstStyle/>
                    <a:p>
                      <a:pPr indent="0" lvl="0" marL="0" rtl="0" algn="ctr">
                        <a:lnSpc>
                          <a:spcPct val="115000"/>
                        </a:lnSpc>
                        <a:spcBef>
                          <a:spcPts val="0"/>
                        </a:spcBef>
                        <a:spcAft>
                          <a:spcPts val="0"/>
                        </a:spcAft>
                        <a:buNone/>
                      </a:pPr>
                      <a:r>
                        <a:rPr lang="en-GB" sz="800"/>
                        <a:t>complete</a:t>
                      </a:r>
                      <a:endParaRPr sz="800"/>
                    </a:p>
                  </a:txBody>
                  <a:tcPr marT="25400" marB="25400" marR="25400" marL="25400" anchor="ctr">
                    <a:solidFill>
                      <a:srgbClr val="D9EAD3"/>
                    </a:solidFill>
                  </a:tcPr>
                </a:tc>
              </a:tr>
              <a:tr h="190500">
                <a:tc>
                  <a:txBody>
                    <a:bodyPr/>
                    <a:lstStyle/>
                    <a:p>
                      <a:pPr indent="0" lvl="0" marL="0" rtl="0" algn="l">
                        <a:lnSpc>
                          <a:spcPct val="115000"/>
                        </a:lnSpc>
                        <a:spcBef>
                          <a:spcPts val="0"/>
                        </a:spcBef>
                        <a:spcAft>
                          <a:spcPts val="0"/>
                        </a:spcAft>
                        <a:buNone/>
                      </a:pPr>
                      <a:r>
                        <a:rPr b="1" lang="en-GB" sz="800"/>
                        <a:t>P0.3</a:t>
                      </a:r>
                      <a:endParaRPr b="1" sz="800"/>
                    </a:p>
                  </a:txBody>
                  <a:tcPr marT="25400" marB="25400" marR="25400" marL="25400" anchor="ctr">
                    <a:solidFill>
                      <a:srgbClr val="D9EAD3"/>
                    </a:solidFill>
                  </a:tcPr>
                </a:tc>
                <a:tc>
                  <a:txBody>
                    <a:bodyPr/>
                    <a:lstStyle/>
                    <a:p>
                      <a:pPr indent="0" lvl="0" marL="0" rtl="0" algn="l">
                        <a:lnSpc>
                          <a:spcPct val="115000"/>
                        </a:lnSpc>
                        <a:spcBef>
                          <a:spcPts val="0"/>
                        </a:spcBef>
                        <a:spcAft>
                          <a:spcPts val="0"/>
                        </a:spcAft>
                        <a:buNone/>
                      </a:pPr>
                      <a:r>
                        <a:rPr lang="en-GB" sz="800"/>
                        <a:t>Extension ​(semantic information) of the legacy software importer for the INTiMALS meta-model</a:t>
                      </a:r>
                      <a:endParaRPr sz="800"/>
                    </a:p>
                  </a:txBody>
                  <a:tcPr marT="25400" marB="25400" marR="25400" marL="25400" anchor="ctr">
                    <a:solidFill>
                      <a:srgbClr val="D9EAD3"/>
                    </a:solidFill>
                  </a:tcPr>
                </a:tc>
                <a:tc>
                  <a:txBody>
                    <a:bodyPr/>
                    <a:lstStyle/>
                    <a:p>
                      <a:pPr indent="0" lvl="0" marL="0" rtl="0" algn="ctr">
                        <a:lnSpc>
                          <a:spcPct val="115000"/>
                        </a:lnSpc>
                        <a:spcBef>
                          <a:spcPts val="0"/>
                        </a:spcBef>
                        <a:spcAft>
                          <a:spcPts val="0"/>
                        </a:spcAft>
                        <a:buNone/>
                      </a:pPr>
                      <a:r>
                        <a:rPr b="1" lang="en-GB" sz="800"/>
                        <a:t>M16</a:t>
                      </a:r>
                      <a:endParaRPr b="1" sz="800"/>
                    </a:p>
                  </a:txBody>
                  <a:tcPr marT="25400" marB="25400" marR="25400" marL="25400" anchor="ctr">
                    <a:solidFill>
                      <a:srgbClr val="D9EAD3"/>
                    </a:solidFill>
                  </a:tcPr>
                </a:tc>
                <a:tc>
                  <a:txBody>
                    <a:bodyPr/>
                    <a:lstStyle/>
                    <a:p>
                      <a:pPr indent="0" lvl="0" marL="0" rtl="0" algn="ctr">
                        <a:lnSpc>
                          <a:spcPct val="115000"/>
                        </a:lnSpc>
                        <a:spcBef>
                          <a:spcPts val="0"/>
                        </a:spcBef>
                        <a:spcAft>
                          <a:spcPts val="0"/>
                        </a:spcAft>
                        <a:buNone/>
                      </a:pPr>
                      <a:r>
                        <a:rPr lang="en-GB" sz="800"/>
                        <a:t>complete</a:t>
                      </a:r>
                      <a:endParaRPr sz="800"/>
                    </a:p>
                  </a:txBody>
                  <a:tcPr marT="25400" marB="25400" marR="25400" marL="25400" anchor="ctr">
                    <a:solidFill>
                      <a:srgbClr val="D9EAD3"/>
                    </a:solidFill>
                  </a:tcPr>
                </a:tc>
              </a:tr>
              <a:tr h="190500">
                <a:tc>
                  <a:txBody>
                    <a:bodyPr/>
                    <a:lstStyle/>
                    <a:p>
                      <a:pPr indent="0" lvl="0" marL="0" rtl="0" algn="l">
                        <a:lnSpc>
                          <a:spcPct val="115000"/>
                        </a:lnSpc>
                        <a:spcBef>
                          <a:spcPts val="0"/>
                        </a:spcBef>
                        <a:spcAft>
                          <a:spcPts val="0"/>
                        </a:spcAft>
                        <a:buNone/>
                      </a:pPr>
                      <a:r>
                        <a:rPr lang="en-GB" sz="800"/>
                        <a:t>R0.4</a:t>
                      </a:r>
                      <a:endParaRPr sz="800"/>
                    </a:p>
                  </a:txBody>
                  <a:tcPr marT="25400" marB="25400" marR="25400" marL="25400" anchor="ctr"/>
                </a:tc>
                <a:tc>
                  <a:txBody>
                    <a:bodyPr/>
                    <a:lstStyle/>
                    <a:p>
                      <a:pPr indent="0" lvl="0" marL="0" rtl="0" algn="l">
                        <a:lnSpc>
                          <a:spcPct val="115000"/>
                        </a:lnSpc>
                        <a:spcBef>
                          <a:spcPts val="0"/>
                        </a:spcBef>
                        <a:spcAft>
                          <a:spcPts val="0"/>
                        </a:spcAft>
                        <a:buNone/>
                      </a:pPr>
                      <a:r>
                        <a:rPr lang="en-GB" sz="800"/>
                        <a:t>Report on the evaluation of INTiMALS’ support for mining usage patterns</a:t>
                      </a:r>
                      <a:endParaRPr sz="800"/>
                    </a:p>
                  </a:txBody>
                  <a:tcPr marT="25400" marB="25400" marR="25400" marL="25400" anchor="ctr"/>
                </a:tc>
                <a:tc>
                  <a:txBody>
                    <a:bodyPr/>
                    <a:lstStyle/>
                    <a:p>
                      <a:pPr indent="0" lvl="0" marL="0" rtl="0" algn="ctr">
                        <a:lnSpc>
                          <a:spcPct val="115000"/>
                        </a:lnSpc>
                        <a:spcBef>
                          <a:spcPts val="0"/>
                        </a:spcBef>
                        <a:spcAft>
                          <a:spcPts val="0"/>
                        </a:spcAft>
                        <a:buNone/>
                      </a:pPr>
                      <a:r>
                        <a:rPr lang="en-GB" sz="800"/>
                        <a:t>M24</a:t>
                      </a:r>
                      <a:endParaRPr sz="800"/>
                    </a:p>
                  </a:txBody>
                  <a:tcPr marT="25400" marB="25400" marR="25400" marL="25400" anchor="ctr"/>
                </a:tc>
                <a:tc>
                  <a:txBody>
                    <a:bodyPr/>
                    <a:lstStyle/>
                    <a:p>
                      <a:pPr indent="0" lvl="0" marL="0" rtl="0" algn="l">
                        <a:lnSpc>
                          <a:spcPct val="115000"/>
                        </a:lnSpc>
                        <a:spcBef>
                          <a:spcPts val="0"/>
                        </a:spcBef>
                        <a:spcAft>
                          <a:spcPts val="0"/>
                        </a:spcAft>
                        <a:buNone/>
                      </a:pPr>
                      <a:r>
                        <a:t/>
                      </a:r>
                      <a:endParaRPr sz="800"/>
                    </a:p>
                  </a:txBody>
                  <a:tcPr marT="25400" marB="25400" marR="25400" marL="25400" anchor="ctr"/>
                </a:tc>
              </a:tr>
              <a:tr h="190500">
                <a:tc>
                  <a:txBody>
                    <a:bodyPr/>
                    <a:lstStyle/>
                    <a:p>
                      <a:pPr indent="0" lvl="0" marL="0" rtl="0" algn="l">
                        <a:lnSpc>
                          <a:spcPct val="115000"/>
                        </a:lnSpc>
                        <a:spcBef>
                          <a:spcPts val="0"/>
                        </a:spcBef>
                        <a:spcAft>
                          <a:spcPts val="0"/>
                        </a:spcAft>
                        <a:buNone/>
                      </a:pPr>
                      <a:r>
                        <a:rPr lang="en-GB" sz="800"/>
                        <a:t>P0.5</a:t>
                      </a:r>
                      <a:endParaRPr sz="800"/>
                    </a:p>
                  </a:txBody>
                  <a:tcPr marT="25400" marB="25400" marR="25400" marL="25400" anchor="ctr"/>
                </a:tc>
                <a:tc>
                  <a:txBody>
                    <a:bodyPr/>
                    <a:lstStyle/>
                    <a:p>
                      <a:pPr indent="0" lvl="0" marL="0" rtl="0" algn="l">
                        <a:lnSpc>
                          <a:spcPct val="115000"/>
                        </a:lnSpc>
                        <a:spcBef>
                          <a:spcPts val="0"/>
                        </a:spcBef>
                        <a:spcAft>
                          <a:spcPts val="0"/>
                        </a:spcAft>
                        <a:buNone/>
                      </a:pPr>
                      <a:r>
                        <a:rPr lang="en-GB" sz="800"/>
                        <a:t>Extension ​(version information) of the legacy software importer for the INTiMALS meta-model</a:t>
                      </a:r>
                      <a:endParaRPr sz="800"/>
                    </a:p>
                  </a:txBody>
                  <a:tcPr marT="25400" marB="25400" marR="25400" marL="25400" anchor="ctr"/>
                </a:tc>
                <a:tc>
                  <a:txBody>
                    <a:bodyPr/>
                    <a:lstStyle/>
                    <a:p>
                      <a:pPr indent="0" lvl="0" marL="0" rtl="0" algn="ctr">
                        <a:lnSpc>
                          <a:spcPct val="115000"/>
                        </a:lnSpc>
                        <a:spcBef>
                          <a:spcPts val="0"/>
                        </a:spcBef>
                        <a:spcAft>
                          <a:spcPts val="0"/>
                        </a:spcAft>
                        <a:buNone/>
                      </a:pPr>
                      <a:r>
                        <a:rPr lang="en-GB" sz="800"/>
                        <a:t>M28</a:t>
                      </a:r>
                      <a:endParaRPr sz="800"/>
                    </a:p>
                  </a:txBody>
                  <a:tcPr marT="25400" marB="25400" marR="25400" marL="25400" anchor="ctr"/>
                </a:tc>
                <a:tc>
                  <a:txBody>
                    <a:bodyPr/>
                    <a:lstStyle/>
                    <a:p>
                      <a:pPr indent="0" lvl="0" marL="0" rtl="0" algn="l">
                        <a:lnSpc>
                          <a:spcPct val="115000"/>
                        </a:lnSpc>
                        <a:spcBef>
                          <a:spcPts val="0"/>
                        </a:spcBef>
                        <a:spcAft>
                          <a:spcPts val="0"/>
                        </a:spcAft>
                        <a:buNone/>
                      </a:pPr>
                      <a:r>
                        <a:t/>
                      </a:r>
                      <a:endParaRPr sz="800"/>
                    </a:p>
                  </a:txBody>
                  <a:tcPr marT="25400" marB="25400" marR="25400" marL="25400" anchor="ctr"/>
                </a:tc>
              </a:tr>
              <a:tr h="190500">
                <a:tc>
                  <a:txBody>
                    <a:bodyPr/>
                    <a:lstStyle/>
                    <a:p>
                      <a:pPr indent="0" lvl="0" marL="0" rtl="0" algn="l">
                        <a:lnSpc>
                          <a:spcPct val="115000"/>
                        </a:lnSpc>
                        <a:spcBef>
                          <a:spcPts val="0"/>
                        </a:spcBef>
                        <a:spcAft>
                          <a:spcPts val="0"/>
                        </a:spcAft>
                        <a:buNone/>
                      </a:pPr>
                      <a:r>
                        <a:rPr lang="en-GB" sz="800"/>
                        <a:t>R0.6</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800"/>
                        <a:t>Report on the evaluation of INTiMALS’ support for edit patterns in UC3</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800"/>
                        <a:t>M36</a:t>
                      </a:r>
                      <a:endParaRPr sz="800"/>
                    </a:p>
                  </a:txBody>
                  <a:tcPr marT="25400" marB="25400" marR="25400" marL="25400" anchor="ctr">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800"/>
                        <a:t> </a:t>
                      </a:r>
                      <a:endParaRPr sz="800"/>
                    </a:p>
                  </a:txBody>
                  <a:tcPr marT="25400" marB="25400" marR="25400" marL="25400" anchor="ctr">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5" name="Shape 265"/>
        <p:cNvGrpSpPr/>
        <p:nvPr/>
      </p:nvGrpSpPr>
      <p:grpSpPr>
        <a:xfrm>
          <a:off x="0" y="0"/>
          <a:ext cx="0" cy="0"/>
          <a:chOff x="0" y="0"/>
          <a:chExt cx="0" cy="0"/>
        </a:xfrm>
      </p:grpSpPr>
      <p:sp>
        <p:nvSpPr>
          <p:cNvPr id="266" name="Google Shape;266;p20"/>
          <p:cNvSpPr txBox="1"/>
          <p:nvPr>
            <p:ph type="title"/>
          </p:nvPr>
        </p:nvSpPr>
        <p:spPr>
          <a:xfrm>
            <a:off x="311700" y="593375"/>
            <a:ext cx="8760000" cy="763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GB" sz="2200">
                <a:solidFill>
                  <a:srgbClr val="4A86E8"/>
                </a:solidFill>
                <a:latin typeface="Syncopate"/>
                <a:ea typeface="Syncopate"/>
                <a:cs typeface="Syncopate"/>
                <a:sym typeface="Syncopate"/>
              </a:rPr>
              <a:t>demo: mining for syntactic patterns</a:t>
            </a:r>
            <a:endParaRPr b="1" sz="2200">
              <a:solidFill>
                <a:srgbClr val="4A86E8"/>
              </a:solidFill>
              <a:latin typeface="Syncopate"/>
              <a:ea typeface="Syncopate"/>
              <a:cs typeface="Syncopate"/>
              <a:sym typeface="Syncopate"/>
            </a:endParaRPr>
          </a:p>
        </p:txBody>
      </p:sp>
      <p:pic>
        <p:nvPicPr>
          <p:cNvPr id="267" name="Google Shape;267;p20"/>
          <p:cNvPicPr preferRelativeResize="0"/>
          <p:nvPr/>
        </p:nvPicPr>
        <p:blipFill>
          <a:blip r:embed="rId3">
            <a:alphaModFix/>
          </a:blip>
          <a:stretch>
            <a:fillRect/>
          </a:stretch>
        </p:blipFill>
        <p:spPr>
          <a:xfrm>
            <a:off x="359425" y="1315475"/>
            <a:ext cx="3327226" cy="1033400"/>
          </a:xfrm>
          <a:prstGeom prst="rect">
            <a:avLst/>
          </a:prstGeom>
          <a:noFill/>
          <a:ln>
            <a:noFill/>
          </a:ln>
        </p:spPr>
      </p:pic>
      <p:pic>
        <p:nvPicPr>
          <p:cNvPr id="268" name="Google Shape;268;p20"/>
          <p:cNvPicPr preferRelativeResize="0"/>
          <p:nvPr/>
        </p:nvPicPr>
        <p:blipFill>
          <a:blip r:embed="rId4">
            <a:alphaModFix/>
          </a:blip>
          <a:stretch>
            <a:fillRect/>
          </a:stretch>
        </p:blipFill>
        <p:spPr>
          <a:xfrm>
            <a:off x="4034700" y="1197600"/>
            <a:ext cx="4083476" cy="2129575"/>
          </a:xfrm>
          <a:prstGeom prst="rect">
            <a:avLst/>
          </a:prstGeom>
          <a:noFill/>
          <a:ln>
            <a:noFill/>
          </a:ln>
        </p:spPr>
      </p:pic>
      <p:cxnSp>
        <p:nvCxnSpPr>
          <p:cNvPr id="269" name="Google Shape;269;p20"/>
          <p:cNvCxnSpPr/>
          <p:nvPr/>
        </p:nvCxnSpPr>
        <p:spPr>
          <a:xfrm flipH="1" rot="10800000">
            <a:off x="3496500" y="1247400"/>
            <a:ext cx="505200" cy="140700"/>
          </a:xfrm>
          <a:prstGeom prst="straightConnector1">
            <a:avLst/>
          </a:prstGeom>
          <a:noFill/>
          <a:ln cap="flat" cmpd="sng" w="9525">
            <a:solidFill>
              <a:schemeClr val="dk2"/>
            </a:solidFill>
            <a:prstDash val="solid"/>
            <a:round/>
            <a:headEnd len="med" w="med" type="none"/>
            <a:tailEnd len="med" w="med" type="none"/>
          </a:ln>
        </p:spPr>
      </p:cxnSp>
      <p:cxnSp>
        <p:nvCxnSpPr>
          <p:cNvPr id="270" name="Google Shape;270;p20"/>
          <p:cNvCxnSpPr/>
          <p:nvPr/>
        </p:nvCxnSpPr>
        <p:spPr>
          <a:xfrm>
            <a:off x="3405400" y="2357175"/>
            <a:ext cx="596400" cy="936000"/>
          </a:xfrm>
          <a:prstGeom prst="straightConnector1">
            <a:avLst/>
          </a:prstGeom>
          <a:noFill/>
          <a:ln cap="flat" cmpd="sng" w="9525">
            <a:solidFill>
              <a:schemeClr val="dk2"/>
            </a:solidFill>
            <a:prstDash val="solid"/>
            <a:round/>
            <a:headEnd len="med" w="med" type="none"/>
            <a:tailEnd len="med" w="med" type="none"/>
          </a:ln>
        </p:spPr>
      </p:cxnSp>
      <p:grpSp>
        <p:nvGrpSpPr>
          <p:cNvPr id="271" name="Google Shape;271;p20"/>
          <p:cNvGrpSpPr/>
          <p:nvPr/>
        </p:nvGrpSpPr>
        <p:grpSpPr>
          <a:xfrm>
            <a:off x="3786318" y="3598284"/>
            <a:ext cx="5285272" cy="2030234"/>
            <a:chOff x="3799671" y="4219788"/>
            <a:chExt cx="4903304" cy="1949337"/>
          </a:xfrm>
        </p:grpSpPr>
        <p:pic>
          <p:nvPicPr>
            <p:cNvPr id="272" name="Google Shape;272;p20"/>
            <p:cNvPicPr preferRelativeResize="0"/>
            <p:nvPr/>
          </p:nvPicPr>
          <p:blipFill rotWithShape="1">
            <a:blip r:embed="rId5">
              <a:alphaModFix/>
            </a:blip>
            <a:srcRect b="0" l="0" r="0" t="0"/>
            <a:stretch/>
          </p:blipFill>
          <p:spPr>
            <a:xfrm>
              <a:off x="3830266" y="4418000"/>
              <a:ext cx="2543128" cy="1243024"/>
            </a:xfrm>
            <a:prstGeom prst="rect">
              <a:avLst/>
            </a:prstGeom>
            <a:noFill/>
            <a:ln>
              <a:noFill/>
            </a:ln>
          </p:spPr>
        </p:pic>
        <p:pic>
          <p:nvPicPr>
            <p:cNvPr id="273" name="Google Shape;273;p20"/>
            <p:cNvPicPr preferRelativeResize="0"/>
            <p:nvPr/>
          </p:nvPicPr>
          <p:blipFill>
            <a:blip r:embed="rId6">
              <a:alphaModFix/>
            </a:blip>
            <a:stretch>
              <a:fillRect/>
            </a:stretch>
          </p:blipFill>
          <p:spPr>
            <a:xfrm>
              <a:off x="6635276" y="4357150"/>
              <a:ext cx="2067700" cy="716725"/>
            </a:xfrm>
            <a:prstGeom prst="rect">
              <a:avLst/>
            </a:prstGeom>
            <a:noFill/>
            <a:ln>
              <a:noFill/>
            </a:ln>
          </p:spPr>
        </p:pic>
        <p:pic>
          <p:nvPicPr>
            <p:cNvPr id="274" name="Google Shape;274;p20"/>
            <p:cNvPicPr preferRelativeResize="0"/>
            <p:nvPr/>
          </p:nvPicPr>
          <p:blipFill>
            <a:blip r:embed="rId7">
              <a:alphaModFix/>
            </a:blip>
            <a:stretch>
              <a:fillRect/>
            </a:stretch>
          </p:blipFill>
          <p:spPr>
            <a:xfrm>
              <a:off x="6635274" y="5135724"/>
              <a:ext cx="1892069" cy="1033400"/>
            </a:xfrm>
            <a:prstGeom prst="rect">
              <a:avLst/>
            </a:prstGeom>
            <a:noFill/>
            <a:ln>
              <a:noFill/>
            </a:ln>
          </p:spPr>
        </p:pic>
        <p:sp>
          <p:nvSpPr>
            <p:cNvPr id="275" name="Google Shape;275;p20"/>
            <p:cNvSpPr/>
            <p:nvPr/>
          </p:nvSpPr>
          <p:spPr>
            <a:xfrm>
              <a:off x="3799671" y="5466025"/>
              <a:ext cx="844164" cy="194993"/>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4A86E8"/>
                  </a:solidFill>
                  <a:latin typeface="Arial"/>
                </a:rPr>
                <a:t>JAVA</a:t>
              </a:r>
            </a:p>
          </p:txBody>
        </p:sp>
        <p:sp>
          <p:nvSpPr>
            <p:cNvPr id="276" name="Google Shape;276;p20"/>
            <p:cNvSpPr/>
            <p:nvPr/>
          </p:nvSpPr>
          <p:spPr>
            <a:xfrm>
              <a:off x="6527625" y="4219788"/>
              <a:ext cx="904772" cy="1982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4A86E8"/>
                  </a:solidFill>
                  <a:latin typeface="Arial"/>
                </a:rPr>
                <a:t>Cobol</a:t>
              </a:r>
            </a:p>
          </p:txBody>
        </p:sp>
      </p:grpSp>
      <p:sp>
        <p:nvSpPr>
          <p:cNvPr id="277" name="Google Shape;277;p20"/>
          <p:cNvSpPr txBox="1"/>
          <p:nvPr/>
        </p:nvSpPr>
        <p:spPr>
          <a:xfrm>
            <a:off x="290850" y="5323625"/>
            <a:ext cx="8562300" cy="1415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a:t>new FREQTals variant of the FREQT frequent subtree mining algorithm</a:t>
            </a:r>
            <a:endParaRPr/>
          </a:p>
          <a:p>
            <a:pPr indent="-317500" lvl="1" marL="914400" rtl="0" algn="l">
              <a:spcBef>
                <a:spcPts val="0"/>
              </a:spcBef>
              <a:spcAft>
                <a:spcPts val="0"/>
              </a:spcAft>
              <a:buSzPts val="1400"/>
              <a:buChar char="○"/>
            </a:pPr>
            <a:r>
              <a:rPr lang="en-GB"/>
              <a:t>r</a:t>
            </a:r>
            <a:r>
              <a:rPr lang="en-GB"/>
              <a:t>educ	ed mining time</a:t>
            </a:r>
            <a:endParaRPr/>
          </a:p>
          <a:p>
            <a:pPr indent="-317500" lvl="1" marL="914400" rtl="0" algn="l">
              <a:spcBef>
                <a:spcPts val="0"/>
              </a:spcBef>
              <a:spcAft>
                <a:spcPts val="0"/>
              </a:spcAft>
              <a:buSzPts val="1400"/>
              <a:buChar char="○"/>
            </a:pPr>
            <a:r>
              <a:rPr lang="en-GB"/>
              <a:t>fewer patterns of little interest; many correspond to code regularities and some are large</a:t>
            </a:r>
            <a:endParaRPr/>
          </a:p>
          <a:p>
            <a:pPr indent="-317500" lvl="0" marL="457200" rtl="0" algn="l">
              <a:spcBef>
                <a:spcPts val="0"/>
              </a:spcBef>
              <a:spcAft>
                <a:spcPts val="0"/>
              </a:spcAft>
              <a:buSzPts val="1400"/>
              <a:buChar char="●"/>
            </a:pPr>
            <a:r>
              <a:rPr lang="en-GB"/>
              <a:t>specialized to scale on legacy systems </a:t>
            </a:r>
            <a:endParaRPr/>
          </a:p>
          <a:p>
            <a:pPr indent="-317500" lvl="1" marL="914400" rtl="0" algn="l">
              <a:spcBef>
                <a:spcPts val="0"/>
              </a:spcBef>
              <a:spcAft>
                <a:spcPts val="0"/>
              </a:spcAft>
              <a:buSzPts val="1400"/>
              <a:buChar char="○"/>
            </a:pPr>
            <a:r>
              <a:rPr lang="en-GB"/>
              <a:t>parallelized, domain-specific constraints, match-based clustering to ease browsing</a:t>
            </a:r>
            <a:endParaRPr/>
          </a:p>
          <a:p>
            <a:pPr indent="-317500" lvl="0" marL="457200" rtl="0" algn="l">
              <a:spcBef>
                <a:spcPts val="0"/>
              </a:spcBef>
              <a:spcAft>
                <a:spcPts val="0"/>
              </a:spcAft>
              <a:buSzPts val="1400"/>
              <a:buChar char="●"/>
            </a:pPr>
            <a:r>
              <a:rPr lang="en-GB"/>
              <a:t>published at Discovery Science 2019, demonstrated at SATTOSE 2019 &amp; &lt;Programming 2019&gt;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1" name="Shape 281"/>
        <p:cNvGrpSpPr/>
        <p:nvPr/>
      </p:nvGrpSpPr>
      <p:grpSpPr>
        <a:xfrm>
          <a:off x="0" y="0"/>
          <a:ext cx="0" cy="0"/>
          <a:chOff x="0" y="0"/>
          <a:chExt cx="0" cy="0"/>
        </a:xfrm>
      </p:grpSpPr>
      <p:sp>
        <p:nvSpPr>
          <p:cNvPr id="282" name="Google Shape;282;p2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GB" sz="2400">
                <a:solidFill>
                  <a:srgbClr val="4A86E8"/>
                </a:solidFill>
                <a:latin typeface="Syncopate"/>
                <a:ea typeface="Syncopate"/>
                <a:cs typeface="Syncopate"/>
                <a:sym typeface="Syncopate"/>
              </a:rPr>
              <a:t>demo</a:t>
            </a:r>
            <a:r>
              <a:rPr b="1" lang="en-GB" sz="2400">
                <a:solidFill>
                  <a:srgbClr val="4A86E8"/>
                </a:solidFill>
                <a:latin typeface="Syncopate"/>
                <a:ea typeface="Syncopate"/>
                <a:cs typeface="Syncopate"/>
                <a:sym typeface="Syncopate"/>
              </a:rPr>
              <a:t>: mining for usage patterns</a:t>
            </a:r>
            <a:endParaRPr b="1" sz="2400">
              <a:solidFill>
                <a:srgbClr val="4A86E8"/>
              </a:solidFill>
              <a:latin typeface="Syncopate"/>
              <a:ea typeface="Syncopate"/>
              <a:cs typeface="Syncopate"/>
              <a:sym typeface="Syncopate"/>
            </a:endParaRPr>
          </a:p>
        </p:txBody>
      </p:sp>
      <p:sp>
        <p:nvSpPr>
          <p:cNvPr id="283" name="Google Shape;283;p21"/>
          <p:cNvSpPr txBox="1"/>
          <p:nvPr/>
        </p:nvSpPr>
        <p:spPr>
          <a:xfrm>
            <a:off x="290850" y="5479625"/>
            <a:ext cx="8562300" cy="1415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a:t>language-agnostic XML representation of library usages</a:t>
            </a:r>
            <a:endParaRPr/>
          </a:p>
          <a:p>
            <a:pPr indent="-317500" lvl="0" marL="457200" rtl="0" algn="l">
              <a:spcBef>
                <a:spcPts val="0"/>
              </a:spcBef>
              <a:spcAft>
                <a:spcPts val="0"/>
              </a:spcAft>
              <a:buSzPts val="1400"/>
              <a:buChar char="●"/>
            </a:pPr>
            <a:r>
              <a:rPr lang="en-GB"/>
              <a:t>extract control- &amp; data-flow information to generate library usage graphs from Java projects</a:t>
            </a:r>
            <a:endParaRPr/>
          </a:p>
          <a:p>
            <a:pPr indent="-317500" lvl="0" marL="457200" rtl="0" algn="l">
              <a:spcBef>
                <a:spcPts val="0"/>
              </a:spcBef>
              <a:spcAft>
                <a:spcPts val="0"/>
              </a:spcAft>
              <a:buSzPts val="1400"/>
              <a:buChar char="●"/>
            </a:pPr>
            <a:r>
              <a:rPr lang="en-GB"/>
              <a:t>extract control- &amp; data-flow information from Cobol projects (graph generation in progress)</a:t>
            </a:r>
            <a:endParaRPr/>
          </a:p>
          <a:p>
            <a:pPr indent="-317500" lvl="0" marL="457200" rtl="0" algn="l">
              <a:spcBef>
                <a:spcPts val="0"/>
              </a:spcBef>
              <a:spcAft>
                <a:spcPts val="0"/>
              </a:spcAft>
              <a:buSzPts val="1400"/>
              <a:buChar char="●"/>
            </a:pPr>
            <a:r>
              <a:rPr lang="en-GB"/>
              <a:t>m</a:t>
            </a:r>
            <a:r>
              <a:rPr lang="en-GB"/>
              <a:t>ine library usages for patterns</a:t>
            </a:r>
            <a:r>
              <a:rPr lang="en-GB"/>
              <a:t> using adaptation of BigGroum tool</a:t>
            </a:r>
            <a:endParaRPr/>
          </a:p>
          <a:p>
            <a:pPr indent="-317500" lvl="1" marL="914400" rtl="0" algn="l">
              <a:spcBef>
                <a:spcPts val="0"/>
              </a:spcBef>
              <a:spcAft>
                <a:spcPts val="0"/>
              </a:spcAft>
              <a:buSzPts val="1400"/>
              <a:buChar char="○"/>
            </a:pPr>
            <a:r>
              <a:rPr lang="en-GB"/>
              <a:t>scales well to large amounts of code</a:t>
            </a:r>
            <a:endParaRPr/>
          </a:p>
        </p:txBody>
      </p:sp>
      <p:pic>
        <p:nvPicPr>
          <p:cNvPr id="284" name="Google Shape;284;p21"/>
          <p:cNvPicPr preferRelativeResize="0"/>
          <p:nvPr/>
        </p:nvPicPr>
        <p:blipFill>
          <a:blip r:embed="rId3">
            <a:alphaModFix/>
          </a:blip>
          <a:stretch>
            <a:fillRect/>
          </a:stretch>
        </p:blipFill>
        <p:spPr>
          <a:xfrm>
            <a:off x="3611575" y="1862279"/>
            <a:ext cx="5425501" cy="2821274"/>
          </a:xfrm>
          <a:prstGeom prst="rect">
            <a:avLst/>
          </a:prstGeom>
          <a:noFill/>
          <a:ln>
            <a:noFill/>
          </a:ln>
        </p:spPr>
      </p:pic>
      <p:pic>
        <p:nvPicPr>
          <p:cNvPr id="285" name="Google Shape;285;p21"/>
          <p:cNvPicPr preferRelativeResize="0"/>
          <p:nvPr/>
        </p:nvPicPr>
        <p:blipFill>
          <a:blip r:embed="rId4">
            <a:alphaModFix/>
          </a:blip>
          <a:stretch>
            <a:fillRect/>
          </a:stretch>
        </p:blipFill>
        <p:spPr>
          <a:xfrm>
            <a:off x="1025775" y="1235800"/>
            <a:ext cx="3987098" cy="1341225"/>
          </a:xfrm>
          <a:prstGeom prst="rect">
            <a:avLst/>
          </a:prstGeom>
          <a:noFill/>
          <a:ln>
            <a:noFill/>
          </a:ln>
        </p:spPr>
      </p:pic>
      <p:sp>
        <p:nvSpPr>
          <p:cNvPr id="286" name="Google Shape;286;p21"/>
          <p:cNvSpPr txBox="1"/>
          <p:nvPr/>
        </p:nvSpPr>
        <p:spPr>
          <a:xfrm>
            <a:off x="389175" y="2746700"/>
            <a:ext cx="3769200" cy="2670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GB" sz="600">
                <a:solidFill>
                  <a:schemeClr val="dk1"/>
                </a:solidFill>
                <a:highlight>
                  <a:srgbClr val="FFFFFF"/>
                </a:highlight>
                <a:latin typeface="Courier New"/>
                <a:ea typeface="Courier New"/>
                <a:cs typeface="Courier New"/>
                <a:sym typeface="Courier New"/>
              </a:rPr>
              <a:t>  </a:t>
            </a:r>
            <a:r>
              <a:rPr lang="en-GB" sz="600">
                <a:solidFill>
                  <a:srgbClr val="0000FF"/>
                </a:solidFill>
                <a:highlight>
                  <a:srgbClr val="FFFFFF"/>
                </a:highlight>
                <a:latin typeface="Courier New"/>
                <a:ea typeface="Courier New"/>
                <a:cs typeface="Courier New"/>
                <a:sym typeface="Courier New"/>
              </a:rPr>
              <a:t>protected</a:t>
            </a:r>
            <a:r>
              <a:rPr lang="en-GB" sz="600">
                <a:solidFill>
                  <a:schemeClr val="dk1"/>
                </a:solidFill>
                <a:highlight>
                  <a:srgbClr val="FFFFFF"/>
                </a:highlight>
                <a:latin typeface="Courier New"/>
                <a:ea typeface="Courier New"/>
                <a:cs typeface="Courier New"/>
                <a:sym typeface="Courier New"/>
              </a:rPr>
              <a:t> </a:t>
            </a:r>
            <a:r>
              <a:rPr lang="en-GB" sz="600">
                <a:solidFill>
                  <a:srgbClr val="0000FF"/>
                </a:solidFill>
                <a:highlight>
                  <a:srgbClr val="FFFFFF"/>
                </a:highlight>
                <a:latin typeface="Courier New"/>
                <a:ea typeface="Courier New"/>
                <a:cs typeface="Courier New"/>
                <a:sym typeface="Courier New"/>
              </a:rPr>
              <a:t>void</a:t>
            </a:r>
            <a:r>
              <a:rPr lang="en-GB" sz="600">
                <a:solidFill>
                  <a:schemeClr val="dk1"/>
                </a:solidFill>
                <a:highlight>
                  <a:srgbClr val="FFFFFF"/>
                </a:highlight>
                <a:latin typeface="Courier New"/>
                <a:ea typeface="Courier New"/>
                <a:cs typeface="Courier New"/>
                <a:sym typeface="Courier New"/>
              </a:rPr>
              <a:t> _init() {</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GB" sz="600">
                <a:solidFill>
                  <a:schemeClr val="dk1"/>
                </a:solidFill>
                <a:highlight>
                  <a:srgbClr val="FFFFFF"/>
                </a:highlight>
                <a:latin typeface="Courier New"/>
                <a:ea typeface="Courier New"/>
                <a:cs typeface="Courier New"/>
                <a:sym typeface="Courier New"/>
              </a:rPr>
              <a:t>    ...</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GB" sz="600">
                <a:solidFill>
                  <a:schemeClr val="dk1"/>
                </a:solidFill>
                <a:highlight>
                  <a:srgbClr val="FFFFFF"/>
                </a:highlight>
                <a:latin typeface="Courier New"/>
                <a:ea typeface="Courier New"/>
                <a:cs typeface="Courier New"/>
                <a:sym typeface="Courier New"/>
              </a:rPr>
              <a:t>    colorsModel = </a:t>
            </a:r>
            <a:r>
              <a:rPr lang="en-GB" sz="600">
                <a:solidFill>
                  <a:srgbClr val="0000FF"/>
                </a:solidFill>
                <a:highlight>
                  <a:srgbClr val="FFFFFF"/>
                </a:highlight>
                <a:latin typeface="Courier New"/>
                <a:ea typeface="Courier New"/>
                <a:cs typeface="Courier New"/>
                <a:sym typeface="Courier New"/>
              </a:rPr>
              <a:t>new</a:t>
            </a:r>
            <a:r>
              <a:rPr lang="en-GB" sz="600">
                <a:solidFill>
                  <a:schemeClr val="dk1"/>
                </a:solidFill>
                <a:highlight>
                  <a:srgbClr val="FFFFFF"/>
                </a:highlight>
                <a:latin typeface="Courier New"/>
                <a:ea typeface="Courier New"/>
                <a:cs typeface="Courier New"/>
                <a:sym typeface="Courier New"/>
              </a:rPr>
              <a:t> BrowserColorsModel();</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GB" sz="600">
                <a:solidFill>
                  <a:schemeClr val="dk1"/>
                </a:solidFill>
                <a:highlight>
                  <a:srgbClr val="FFFFFF"/>
                </a:highlight>
                <a:latin typeface="Courier New"/>
                <a:ea typeface="Courier New"/>
                <a:cs typeface="Courier New"/>
                <a:sym typeface="Courier New"/>
              </a:rPr>
              <a:t>    colorsTable = </a:t>
            </a:r>
            <a:r>
              <a:rPr lang="en-GB" sz="600">
                <a:solidFill>
                  <a:srgbClr val="FF9900"/>
                </a:solidFill>
                <a:highlight>
                  <a:srgbClr val="FFFFFF"/>
                </a:highlight>
                <a:latin typeface="Courier New"/>
                <a:ea typeface="Courier New"/>
                <a:cs typeface="Courier New"/>
                <a:sym typeface="Courier New"/>
              </a:rPr>
              <a:t>new JTable(colorsModel)</a:t>
            </a:r>
            <a:r>
              <a:rPr b="1" lang="en-GB" sz="600">
                <a:solidFill>
                  <a:srgbClr val="FF9900"/>
                </a:solidFill>
                <a:highlight>
                  <a:srgbClr val="FFFFFF"/>
                </a:highlight>
                <a:latin typeface="Courier New"/>
                <a:ea typeface="Courier New"/>
                <a:cs typeface="Courier New"/>
                <a:sym typeface="Courier New"/>
              </a:rPr>
              <a:t>;</a:t>
            </a:r>
            <a:endParaRPr b="1" sz="600">
              <a:solidFill>
                <a:srgbClr val="FF9900"/>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GB" sz="600">
                <a:solidFill>
                  <a:schemeClr val="dk1"/>
                </a:solidFill>
                <a:highlight>
                  <a:srgbClr val="FFFFFF"/>
                </a:highlight>
                <a:latin typeface="Courier New"/>
                <a:ea typeface="Courier New"/>
                <a:cs typeface="Courier New"/>
                <a:sym typeface="Courier New"/>
              </a:rPr>
              <a:t>    colorsTable.setAutoResizeMode(JTable.AUTO_RESIZE_ALL_COLUMNS);</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GB" sz="600">
                <a:solidFill>
                  <a:schemeClr val="dk1"/>
                </a:solidFill>
                <a:highlight>
                  <a:srgbClr val="FFFFFF"/>
                </a:highlight>
                <a:latin typeface="Courier New"/>
                <a:ea typeface="Courier New"/>
                <a:cs typeface="Courier New"/>
                <a:sym typeface="Courier New"/>
              </a:rPr>
              <a:t>    colorsTable.</a:t>
            </a:r>
            <a:r>
              <a:rPr lang="en-GB" sz="600">
                <a:solidFill>
                  <a:schemeClr val="accent1"/>
                </a:solidFill>
                <a:highlight>
                  <a:srgbClr val="FFFFFF"/>
                </a:highlight>
                <a:latin typeface="Courier New"/>
                <a:ea typeface="Courier New"/>
                <a:cs typeface="Courier New"/>
                <a:sym typeface="Courier New"/>
              </a:rPr>
              <a:t>getTableHeader</a:t>
            </a:r>
            <a:r>
              <a:rPr lang="en-GB" sz="600">
                <a:solidFill>
                  <a:srgbClr val="FF9900"/>
                </a:solidFill>
                <a:highlight>
                  <a:srgbClr val="FFFFFF"/>
                </a:highlight>
                <a:latin typeface="Courier New"/>
                <a:ea typeface="Courier New"/>
                <a:cs typeface="Courier New"/>
                <a:sym typeface="Courier New"/>
              </a:rPr>
              <a:t>()</a:t>
            </a:r>
            <a:r>
              <a:rPr lang="en-GB" sz="600">
                <a:solidFill>
                  <a:schemeClr val="dk1"/>
                </a:solidFill>
                <a:highlight>
                  <a:srgbClr val="FFFFFF"/>
                </a:highlight>
                <a:latin typeface="Courier New"/>
                <a:ea typeface="Courier New"/>
                <a:cs typeface="Courier New"/>
                <a:sym typeface="Courier New"/>
              </a:rPr>
              <a:t>.</a:t>
            </a:r>
            <a:r>
              <a:rPr lang="en-GB" sz="600">
                <a:solidFill>
                  <a:srgbClr val="FF9900"/>
                </a:solidFill>
                <a:highlight>
                  <a:srgbClr val="FFFFFF"/>
                </a:highlight>
                <a:latin typeface="Courier New"/>
                <a:ea typeface="Courier New"/>
                <a:cs typeface="Courier New"/>
                <a:sym typeface="Courier New"/>
              </a:rPr>
              <a:t>setReorderingAllowed(false)</a:t>
            </a:r>
            <a:r>
              <a:rPr lang="en-GB" sz="600">
                <a:solidFill>
                  <a:schemeClr val="dk1"/>
                </a:solidFill>
                <a:highlight>
                  <a:srgbClr val="FFFFFF"/>
                </a:highlight>
                <a:latin typeface="Courier New"/>
                <a:ea typeface="Courier New"/>
                <a:cs typeface="Courier New"/>
                <a:sym typeface="Courier New"/>
              </a:rPr>
              <a:t>;</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GB" sz="600">
                <a:solidFill>
                  <a:schemeClr val="dk1"/>
                </a:solidFill>
                <a:highlight>
                  <a:srgbClr val="FFFFFF"/>
                </a:highlight>
                <a:latin typeface="Courier New"/>
                <a:ea typeface="Courier New"/>
                <a:cs typeface="Courier New"/>
                <a:sym typeface="Courier New"/>
              </a:rPr>
              <a:t>    colorsTable.addMouseListener(</a:t>
            </a:r>
            <a:r>
              <a:rPr lang="en-GB" sz="600">
                <a:solidFill>
                  <a:srgbClr val="0000FF"/>
                </a:solidFill>
                <a:highlight>
                  <a:srgbClr val="FFFFFF"/>
                </a:highlight>
                <a:latin typeface="Courier New"/>
                <a:ea typeface="Courier New"/>
                <a:cs typeface="Courier New"/>
                <a:sym typeface="Courier New"/>
              </a:rPr>
              <a:t>new</a:t>
            </a:r>
            <a:r>
              <a:rPr lang="en-GB" sz="600">
                <a:solidFill>
                  <a:schemeClr val="dk1"/>
                </a:solidFill>
                <a:highlight>
                  <a:srgbClr val="FFFFFF"/>
                </a:highlight>
                <a:latin typeface="Courier New"/>
                <a:ea typeface="Courier New"/>
                <a:cs typeface="Courier New"/>
                <a:sym typeface="Courier New"/>
              </a:rPr>
              <a:t> MouseHandler());</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GB" sz="600">
                <a:solidFill>
                  <a:schemeClr val="dk1"/>
                </a:solidFill>
                <a:highlight>
                  <a:srgbClr val="FFFFFF"/>
                </a:highlight>
                <a:latin typeface="Courier New"/>
                <a:ea typeface="Courier New"/>
                <a:cs typeface="Courier New"/>
                <a:sym typeface="Courier New"/>
              </a:rPr>
              <a:t>    colorsTable.getSelectionModel().addListSelectionListener(</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GB" sz="600">
                <a:solidFill>
                  <a:schemeClr val="dk1"/>
                </a:solidFill>
                <a:highlight>
                  <a:srgbClr val="FFFFFF"/>
                </a:highlight>
                <a:latin typeface="Courier New"/>
                <a:ea typeface="Courier New"/>
                <a:cs typeface="Courier New"/>
                <a:sym typeface="Courier New"/>
              </a:rPr>
              <a:t>      </a:t>
            </a:r>
            <a:r>
              <a:rPr lang="en-GB" sz="600">
                <a:solidFill>
                  <a:srgbClr val="0000FF"/>
                </a:solidFill>
                <a:highlight>
                  <a:srgbClr val="FFFFFF"/>
                </a:highlight>
                <a:latin typeface="Courier New"/>
                <a:ea typeface="Courier New"/>
                <a:cs typeface="Courier New"/>
                <a:sym typeface="Courier New"/>
              </a:rPr>
              <a:t>new</a:t>
            </a:r>
            <a:r>
              <a:rPr lang="en-GB" sz="600">
                <a:solidFill>
                  <a:schemeClr val="dk1"/>
                </a:solidFill>
                <a:highlight>
                  <a:srgbClr val="FFFFFF"/>
                </a:highlight>
                <a:latin typeface="Courier New"/>
                <a:ea typeface="Courier New"/>
                <a:cs typeface="Courier New"/>
                <a:sym typeface="Courier New"/>
              </a:rPr>
              <a:t> SelectionHandler());</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GB" sz="600">
                <a:solidFill>
                  <a:schemeClr val="dk1"/>
                </a:solidFill>
                <a:highlight>
                  <a:srgbClr val="FFFFFF"/>
                </a:highlight>
                <a:latin typeface="Courier New"/>
                <a:ea typeface="Courier New"/>
                <a:cs typeface="Courier New"/>
                <a:sym typeface="Courier New"/>
              </a:rPr>
              <a:t>    </a:t>
            </a:r>
            <a:r>
              <a:rPr lang="en-GB" sz="600">
                <a:solidFill>
                  <a:srgbClr val="0000FF"/>
                </a:solidFill>
                <a:highlight>
                  <a:srgbClr val="FFFFFF"/>
                </a:highlight>
                <a:latin typeface="Courier New"/>
                <a:ea typeface="Courier New"/>
                <a:cs typeface="Courier New"/>
                <a:sym typeface="Courier New"/>
              </a:rPr>
              <a:t>TableColumnModel</a:t>
            </a:r>
            <a:r>
              <a:rPr lang="en-GB" sz="600">
                <a:solidFill>
                  <a:schemeClr val="dk1"/>
                </a:solidFill>
                <a:highlight>
                  <a:srgbClr val="FFFFFF"/>
                </a:highlight>
                <a:latin typeface="Courier New"/>
                <a:ea typeface="Courier New"/>
                <a:cs typeface="Courier New"/>
                <a:sym typeface="Courier New"/>
              </a:rPr>
              <a:t> tcm = colorsTable.</a:t>
            </a:r>
            <a:r>
              <a:rPr lang="en-GB" sz="600">
                <a:solidFill>
                  <a:srgbClr val="FF9900"/>
                </a:solidFill>
                <a:highlight>
                  <a:srgbClr val="FFFFFF"/>
                </a:highlight>
                <a:latin typeface="Courier New"/>
                <a:ea typeface="Courier New"/>
                <a:cs typeface="Courier New"/>
                <a:sym typeface="Courier New"/>
              </a:rPr>
              <a:t>getColumnModel()</a:t>
            </a:r>
            <a:r>
              <a:rPr lang="en-GB" sz="600">
                <a:solidFill>
                  <a:schemeClr val="dk1"/>
                </a:solidFill>
                <a:highlight>
                  <a:srgbClr val="FFFFFF"/>
                </a:highlight>
                <a:latin typeface="Courier New"/>
                <a:ea typeface="Courier New"/>
                <a:cs typeface="Courier New"/>
                <a:sym typeface="Courier New"/>
              </a:rPr>
              <a:t>;</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GB" sz="600">
                <a:solidFill>
                  <a:schemeClr val="dk1"/>
                </a:solidFill>
                <a:highlight>
                  <a:srgbClr val="FFFFFF"/>
                </a:highlight>
                <a:latin typeface="Courier New"/>
                <a:ea typeface="Courier New"/>
                <a:cs typeface="Courier New"/>
                <a:sym typeface="Courier New"/>
              </a:rPr>
              <a:t>    tcm.</a:t>
            </a:r>
            <a:r>
              <a:rPr lang="en-GB" sz="600">
                <a:solidFill>
                  <a:srgbClr val="FF9900"/>
                </a:solidFill>
                <a:highlight>
                  <a:srgbClr val="FFFFFF"/>
                </a:highlight>
                <a:latin typeface="Courier New"/>
                <a:ea typeface="Courier New"/>
                <a:cs typeface="Courier New"/>
                <a:sym typeface="Courier New"/>
              </a:rPr>
              <a:t>getColumn(1)</a:t>
            </a:r>
            <a:r>
              <a:rPr lang="en-GB" sz="600">
                <a:solidFill>
                  <a:schemeClr val="dk1"/>
                </a:solidFill>
                <a:highlight>
                  <a:srgbClr val="FFFFFF"/>
                </a:highlight>
                <a:latin typeface="Courier New"/>
                <a:ea typeface="Courier New"/>
                <a:cs typeface="Courier New"/>
                <a:sym typeface="Courier New"/>
              </a:rPr>
              <a:t>.setCellRenderer(</a:t>
            </a:r>
            <a:r>
              <a:rPr lang="en-GB" sz="600">
                <a:solidFill>
                  <a:srgbClr val="0000FF"/>
                </a:solidFill>
                <a:highlight>
                  <a:srgbClr val="FFFFFF"/>
                </a:highlight>
                <a:latin typeface="Courier New"/>
                <a:ea typeface="Courier New"/>
                <a:cs typeface="Courier New"/>
                <a:sym typeface="Courier New"/>
              </a:rPr>
              <a:t>new</a:t>
            </a:r>
            <a:r>
              <a:rPr lang="en-GB" sz="600">
                <a:solidFill>
                  <a:schemeClr val="dk1"/>
                </a:solidFill>
                <a:highlight>
                  <a:srgbClr val="FFFFFF"/>
                </a:highlight>
                <a:latin typeface="Courier New"/>
                <a:ea typeface="Courier New"/>
                <a:cs typeface="Courier New"/>
                <a:sym typeface="Courier New"/>
              </a:rPr>
              <a:t> BrowserColorsModel.ColorRenderer());</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GB" sz="600">
                <a:solidFill>
                  <a:schemeClr val="dk1"/>
                </a:solidFill>
                <a:highlight>
                  <a:srgbClr val="FFFFFF"/>
                </a:highlight>
                <a:latin typeface="Courier New"/>
                <a:ea typeface="Courier New"/>
                <a:cs typeface="Courier New"/>
                <a:sym typeface="Courier New"/>
              </a:rPr>
              <a:t>    </a:t>
            </a:r>
            <a:r>
              <a:rPr lang="en-GB" sz="600">
                <a:solidFill>
                  <a:srgbClr val="0000FF"/>
                </a:solidFill>
                <a:highlight>
                  <a:srgbClr val="FFFFFF"/>
                </a:highlight>
                <a:latin typeface="Courier New"/>
                <a:ea typeface="Courier New"/>
                <a:cs typeface="Courier New"/>
                <a:sym typeface="Courier New"/>
              </a:rPr>
              <a:t>Dimension</a:t>
            </a:r>
            <a:r>
              <a:rPr lang="en-GB" sz="600">
                <a:solidFill>
                  <a:schemeClr val="dk1"/>
                </a:solidFill>
                <a:highlight>
                  <a:srgbClr val="FFFFFF"/>
                </a:highlight>
                <a:latin typeface="Courier New"/>
                <a:ea typeface="Courier New"/>
                <a:cs typeface="Courier New"/>
                <a:sym typeface="Courier New"/>
              </a:rPr>
              <a:t> d = colorsTable.getPreferredSize();</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GB" sz="600">
                <a:solidFill>
                  <a:schemeClr val="dk1"/>
                </a:solidFill>
                <a:highlight>
                  <a:srgbClr val="FFFFFF"/>
                </a:highlight>
                <a:latin typeface="Courier New"/>
                <a:ea typeface="Courier New"/>
                <a:cs typeface="Courier New"/>
                <a:sym typeface="Courier New"/>
              </a:rPr>
              <a:t>    d.height = Math.min(d.height,</a:t>
            </a:r>
            <a:r>
              <a:rPr lang="en-GB" sz="600">
                <a:solidFill>
                  <a:srgbClr val="09885A"/>
                </a:solidFill>
                <a:highlight>
                  <a:srgbClr val="FFFFFF"/>
                </a:highlight>
                <a:latin typeface="Courier New"/>
                <a:ea typeface="Courier New"/>
                <a:cs typeface="Courier New"/>
                <a:sym typeface="Courier New"/>
              </a:rPr>
              <a:t>200</a:t>
            </a:r>
            <a:r>
              <a:rPr lang="en-GB" sz="600">
                <a:solidFill>
                  <a:schemeClr val="dk1"/>
                </a:solidFill>
                <a:highlight>
                  <a:srgbClr val="FFFFFF"/>
                </a:highlight>
                <a:latin typeface="Courier New"/>
                <a:ea typeface="Courier New"/>
                <a:cs typeface="Courier New"/>
                <a:sym typeface="Courier New"/>
              </a:rPr>
              <a:t>);</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GB" sz="600">
                <a:solidFill>
                  <a:schemeClr val="dk1"/>
                </a:solidFill>
                <a:highlight>
                  <a:srgbClr val="FFFFFF"/>
                </a:highlight>
                <a:latin typeface="Courier New"/>
                <a:ea typeface="Courier New"/>
                <a:cs typeface="Courier New"/>
                <a:sym typeface="Courier New"/>
              </a:rPr>
              <a:t>    </a:t>
            </a:r>
            <a:r>
              <a:rPr lang="en-GB" sz="600">
                <a:solidFill>
                  <a:srgbClr val="0000FF"/>
                </a:solidFill>
                <a:highlight>
                  <a:srgbClr val="FFFFFF"/>
                </a:highlight>
                <a:latin typeface="Courier New"/>
                <a:ea typeface="Courier New"/>
                <a:cs typeface="Courier New"/>
                <a:sym typeface="Courier New"/>
              </a:rPr>
              <a:t>JScrollPane</a:t>
            </a:r>
            <a:r>
              <a:rPr lang="en-GB" sz="600">
                <a:solidFill>
                  <a:schemeClr val="dk1"/>
                </a:solidFill>
                <a:highlight>
                  <a:srgbClr val="FFFFFF"/>
                </a:highlight>
                <a:latin typeface="Courier New"/>
                <a:ea typeface="Courier New"/>
                <a:cs typeface="Courier New"/>
                <a:sym typeface="Courier New"/>
              </a:rPr>
              <a:t> scroller = </a:t>
            </a:r>
            <a:r>
              <a:rPr lang="en-GB" sz="600">
                <a:solidFill>
                  <a:srgbClr val="FF9900"/>
                </a:solidFill>
                <a:highlight>
                  <a:srgbClr val="FFFFFF"/>
                </a:highlight>
                <a:latin typeface="Courier New"/>
                <a:ea typeface="Courier New"/>
                <a:cs typeface="Courier New"/>
                <a:sym typeface="Courier New"/>
              </a:rPr>
              <a:t>new JScrollPane(colorsTable)</a:t>
            </a:r>
            <a:r>
              <a:rPr lang="en-GB" sz="600">
                <a:solidFill>
                  <a:schemeClr val="dk1"/>
                </a:solidFill>
                <a:highlight>
                  <a:srgbClr val="FFFFFF"/>
                </a:highlight>
                <a:latin typeface="Courier New"/>
                <a:ea typeface="Courier New"/>
                <a:cs typeface="Courier New"/>
                <a:sym typeface="Courier New"/>
              </a:rPr>
              <a:t>;</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GB" sz="600">
                <a:solidFill>
                  <a:schemeClr val="dk1"/>
                </a:solidFill>
                <a:highlight>
                  <a:srgbClr val="FFFFFF"/>
                </a:highlight>
                <a:latin typeface="Courier New"/>
                <a:ea typeface="Courier New"/>
                <a:cs typeface="Courier New"/>
                <a:sym typeface="Courier New"/>
              </a:rPr>
              <a:t>    scroller.</a:t>
            </a:r>
            <a:r>
              <a:rPr lang="en-GB" sz="600">
                <a:solidFill>
                  <a:srgbClr val="FF9900"/>
                </a:solidFill>
                <a:highlight>
                  <a:srgbClr val="FFFFFF"/>
                </a:highlight>
                <a:latin typeface="Courier New"/>
                <a:ea typeface="Courier New"/>
                <a:cs typeface="Courier New"/>
                <a:sym typeface="Courier New"/>
              </a:rPr>
              <a:t>setPreferredSize(d)</a:t>
            </a:r>
            <a:r>
              <a:rPr lang="en-GB" sz="600">
                <a:solidFill>
                  <a:schemeClr val="dk1"/>
                </a:solidFill>
                <a:highlight>
                  <a:srgbClr val="FFFFFF"/>
                </a:highlight>
                <a:latin typeface="Courier New"/>
                <a:ea typeface="Courier New"/>
                <a:cs typeface="Courier New"/>
                <a:sym typeface="Courier New"/>
              </a:rPr>
              <a:t>;</a:t>
            </a:r>
            <a:endParaRPr sz="6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GB" sz="600">
                <a:solidFill>
                  <a:schemeClr val="dk1"/>
                </a:solidFill>
                <a:highlight>
                  <a:srgbClr val="FFFFFF"/>
                </a:highlight>
                <a:latin typeface="Courier New"/>
                <a:ea typeface="Courier New"/>
                <a:cs typeface="Courier New"/>
                <a:sym typeface="Courier New"/>
              </a:rPr>
              <a:t>    add(BorderLayout.CENTER,scroller);</a:t>
            </a:r>
            <a:endParaRPr sz="6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GB" sz="600">
                <a:solidFill>
                  <a:schemeClr val="dk1"/>
                </a:solidFill>
                <a:highlight>
                  <a:srgbClr val="FFFFFF"/>
                </a:highlight>
                <a:latin typeface="Courier New"/>
                <a:ea typeface="Courier New"/>
                <a:cs typeface="Courier New"/>
                <a:sym typeface="Courier New"/>
              </a:rPr>
              <a:t>   </a:t>
            </a:r>
            <a:r>
              <a:rPr lang="en-GB" sz="600">
                <a:solidFill>
                  <a:schemeClr val="dk1"/>
                </a:solidFill>
                <a:highlight>
                  <a:srgbClr val="FFFFFF"/>
                </a:highlight>
                <a:latin typeface="Courier New"/>
                <a:ea typeface="Courier New"/>
                <a:cs typeface="Courier New"/>
                <a:sym typeface="Courier New"/>
              </a:rPr>
              <a:t>...</a:t>
            </a:r>
            <a:br>
              <a:rPr lang="en-GB" sz="600">
                <a:solidFill>
                  <a:schemeClr val="dk1"/>
                </a:solidFill>
                <a:highlight>
                  <a:srgbClr val="FFFFFF"/>
                </a:highlight>
                <a:latin typeface="Courier New"/>
                <a:ea typeface="Courier New"/>
                <a:cs typeface="Courier New"/>
                <a:sym typeface="Courier New"/>
              </a:rPr>
            </a:br>
            <a:r>
              <a:rPr lang="en-GB" sz="600">
                <a:solidFill>
                  <a:schemeClr val="dk1"/>
                </a:solidFill>
                <a:highlight>
                  <a:srgbClr val="FFFFFF"/>
                </a:highlight>
                <a:latin typeface="Courier New"/>
                <a:ea typeface="Courier New"/>
                <a:cs typeface="Courier New"/>
                <a:sym typeface="Courier New"/>
              </a:rPr>
              <a:t>}</a:t>
            </a:r>
            <a:endParaRPr sz="600">
              <a:solidFill>
                <a:srgbClr val="0000FF"/>
              </a:solidFill>
              <a:highlight>
                <a:srgbClr val="FFFFFF"/>
              </a:highlight>
              <a:latin typeface="Courier New"/>
              <a:ea typeface="Courier New"/>
              <a:cs typeface="Courier New"/>
              <a:sym typeface="Courier New"/>
            </a:endParaRPr>
          </a:p>
        </p:txBody>
      </p:sp>
      <p:sp>
        <p:nvSpPr>
          <p:cNvPr id="287" name="Google Shape;287;p21"/>
          <p:cNvSpPr/>
          <p:nvPr/>
        </p:nvSpPr>
        <p:spPr>
          <a:xfrm>
            <a:off x="6071125" y="2173000"/>
            <a:ext cx="859500" cy="1575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1"/>
          <p:cNvSpPr/>
          <p:nvPr/>
        </p:nvSpPr>
        <p:spPr>
          <a:xfrm>
            <a:off x="6568525" y="2464625"/>
            <a:ext cx="985500" cy="1575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1"/>
          <p:cNvSpPr/>
          <p:nvPr/>
        </p:nvSpPr>
        <p:spPr>
          <a:xfrm>
            <a:off x="6781450" y="3052825"/>
            <a:ext cx="1486800" cy="1575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1"/>
          <p:cNvSpPr/>
          <p:nvPr/>
        </p:nvSpPr>
        <p:spPr>
          <a:xfrm>
            <a:off x="6292250" y="3339500"/>
            <a:ext cx="1025700" cy="1575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1"/>
          <p:cNvSpPr/>
          <p:nvPr/>
        </p:nvSpPr>
        <p:spPr>
          <a:xfrm>
            <a:off x="6568525" y="3932650"/>
            <a:ext cx="1391100" cy="1575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1"/>
          <p:cNvSpPr/>
          <p:nvPr/>
        </p:nvSpPr>
        <p:spPr>
          <a:xfrm>
            <a:off x="5404625" y="4214700"/>
            <a:ext cx="985500" cy="1575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1"/>
          <p:cNvSpPr/>
          <p:nvPr/>
        </p:nvSpPr>
        <p:spPr>
          <a:xfrm>
            <a:off x="4201025" y="4526050"/>
            <a:ext cx="1203600" cy="1575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7" name="Shape 297"/>
        <p:cNvGrpSpPr/>
        <p:nvPr/>
      </p:nvGrpSpPr>
      <p:grpSpPr>
        <a:xfrm>
          <a:off x="0" y="0"/>
          <a:ext cx="0" cy="0"/>
          <a:chOff x="0" y="0"/>
          <a:chExt cx="0" cy="0"/>
        </a:xfrm>
      </p:grpSpPr>
      <p:sp>
        <p:nvSpPr>
          <p:cNvPr id="298" name="Google Shape;298;p2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GB">
                <a:solidFill>
                  <a:srgbClr val="4A86E8"/>
                </a:solidFill>
                <a:latin typeface="Syncopate"/>
                <a:ea typeface="Syncopate"/>
                <a:cs typeface="Syncopate"/>
                <a:sym typeface="Syncopate"/>
              </a:rPr>
              <a:t>Anticipated</a:t>
            </a:r>
            <a:r>
              <a:rPr lang="en-GB"/>
              <a:t> </a:t>
            </a:r>
            <a:r>
              <a:rPr b="1" lang="en-GB">
                <a:solidFill>
                  <a:srgbClr val="4A86E8"/>
                </a:solidFill>
                <a:latin typeface="Syncopate"/>
                <a:ea typeface="Syncopate"/>
                <a:cs typeface="Syncopate"/>
                <a:sym typeface="Syncopate"/>
              </a:rPr>
              <a:t>changes</a:t>
            </a:r>
            <a:endParaRPr/>
          </a:p>
        </p:txBody>
      </p:sp>
      <p:sp>
        <p:nvSpPr>
          <p:cNvPr id="299" name="Google Shape;299;p22"/>
          <p:cNvSpPr txBox="1"/>
          <p:nvPr>
            <p:ph idx="1" type="body"/>
          </p:nvPr>
        </p:nvSpPr>
        <p:spPr>
          <a:xfrm>
            <a:off x="311700" y="5049031"/>
            <a:ext cx="8520600" cy="1042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Changes for Y2</a:t>
            </a:r>
            <a:endParaRPr/>
          </a:p>
          <a:p>
            <a:pPr indent="-317500" lvl="1" marL="914400" rtl="0" algn="l">
              <a:spcBef>
                <a:spcPts val="0"/>
              </a:spcBef>
              <a:spcAft>
                <a:spcPts val="0"/>
              </a:spcAft>
              <a:buSzPts val="1400"/>
              <a:buChar char="○"/>
            </a:pPr>
            <a:r>
              <a:rPr lang="en-GB"/>
              <a:t>Strengthen syntactic pattern miner developed in Y1 (and first months of Y2), based on a deeper evaluation of quality, quantity and relevance of found patterns </a:t>
            </a:r>
            <a:endParaRPr/>
          </a:p>
          <a:p>
            <a:pPr indent="-342900" lvl="0" marL="457200" rtl="0" algn="l">
              <a:spcBef>
                <a:spcPts val="0"/>
              </a:spcBef>
              <a:spcAft>
                <a:spcPts val="0"/>
              </a:spcAft>
              <a:buSzPts val="1800"/>
              <a:buChar char="●"/>
            </a:pPr>
            <a:r>
              <a:rPr lang="en-GB"/>
              <a:t>Changes for Y3</a:t>
            </a:r>
            <a:endParaRPr/>
          </a:p>
          <a:p>
            <a:pPr indent="-317500" lvl="1" marL="914400" rtl="0" algn="l">
              <a:spcBef>
                <a:spcPts val="0"/>
              </a:spcBef>
              <a:spcAft>
                <a:spcPts val="0"/>
              </a:spcAft>
              <a:buSzPts val="1400"/>
              <a:buChar char="○"/>
            </a:pPr>
            <a:r>
              <a:rPr lang="en-GB"/>
              <a:t>Narrow focus to mining for edit patterns in contemporary C# code within RainCode products</a:t>
            </a:r>
            <a:endParaRPr/>
          </a:p>
          <a:p>
            <a:pPr indent="-317500" lvl="1" marL="914400" rtl="0" algn="l">
              <a:spcBef>
                <a:spcPts val="0"/>
              </a:spcBef>
              <a:spcAft>
                <a:spcPts val="0"/>
              </a:spcAft>
              <a:buSzPts val="1400"/>
              <a:buChar char="○"/>
            </a:pPr>
            <a:r>
              <a:rPr lang="en-GB"/>
              <a:t>Use freed resources to strengthen usage pattern miner of Y2 </a:t>
            </a:r>
            <a:endParaRPr/>
          </a:p>
        </p:txBody>
      </p:sp>
      <p:pic>
        <p:nvPicPr>
          <p:cNvPr id="300" name="Google Shape;300;p22"/>
          <p:cNvPicPr preferRelativeResize="0"/>
          <p:nvPr/>
        </p:nvPicPr>
        <p:blipFill>
          <a:blip r:embed="rId3">
            <a:alphaModFix/>
          </a:blip>
          <a:stretch>
            <a:fillRect/>
          </a:stretch>
        </p:blipFill>
        <p:spPr>
          <a:xfrm>
            <a:off x="442275" y="1310467"/>
            <a:ext cx="4651663" cy="3387365"/>
          </a:xfrm>
          <a:prstGeom prst="rect">
            <a:avLst/>
          </a:prstGeom>
          <a:noFill/>
          <a:ln>
            <a:noFill/>
          </a:ln>
        </p:spPr>
      </p:pic>
      <p:cxnSp>
        <p:nvCxnSpPr>
          <p:cNvPr id="301" name="Google Shape;301;p22"/>
          <p:cNvCxnSpPr/>
          <p:nvPr/>
        </p:nvCxnSpPr>
        <p:spPr>
          <a:xfrm>
            <a:off x="2689800" y="1156200"/>
            <a:ext cx="0" cy="3693900"/>
          </a:xfrm>
          <a:prstGeom prst="straightConnector1">
            <a:avLst/>
          </a:prstGeom>
          <a:noFill/>
          <a:ln cap="flat" cmpd="sng" w="9525">
            <a:solidFill>
              <a:srgbClr val="FF0000"/>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5" name="Shape 305"/>
        <p:cNvGrpSpPr/>
        <p:nvPr/>
      </p:nvGrpSpPr>
      <p:grpSpPr>
        <a:xfrm>
          <a:off x="0" y="0"/>
          <a:ext cx="0" cy="0"/>
          <a:chOff x="0" y="0"/>
          <a:chExt cx="0" cy="0"/>
        </a:xfrm>
      </p:grpSpPr>
      <p:sp>
        <p:nvSpPr>
          <p:cNvPr id="306" name="Google Shape;306;p23"/>
          <p:cNvSpPr txBox="1"/>
          <p:nvPr>
            <p:ph type="title"/>
          </p:nvPr>
        </p:nvSpPr>
        <p:spPr>
          <a:xfrm>
            <a:off x="3130050" y="1845900"/>
            <a:ext cx="2883900" cy="2470500"/>
          </a:xfrm>
          <a:prstGeom prst="rect">
            <a:avLst/>
          </a:prstGeom>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1" lang="en-GB" sz="6000">
                <a:solidFill>
                  <a:srgbClr val="4A86E8"/>
                </a:solidFill>
                <a:latin typeface="Syncopate"/>
                <a:ea typeface="Syncopate"/>
                <a:cs typeface="Syncopate"/>
                <a:sym typeface="Syncopate"/>
              </a:rPr>
              <a:t>Q&amp;A</a:t>
            </a:r>
            <a:endParaRPr sz="60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